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optimized two pyperformance benchmarks and designed a hardware accelerator for the hotspot that survived optimization. Both benchmarks beat the 7% requirement by a wide margin: raytrace 2.98x, pyflate 1.44x. The talk follows the order we actually worked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groups pick nbody + raytrace, which are both float-vector workloads and lead to the same accelerator. We deliberately paired a regular float workload with an irregular bit-serial one so the comparison would teach us something. That pays off at the end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course's own method: flame graph tells you where, counters tell you why, and you use them together. Step 4 matters more than it looks - re-measuring is what caught our biggest mistake, which I'll come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a minute. Each of these produces wrong or empty data rather than an error message. We only caught them because we read the output instead of assuming the script worked. If you take one practical thing from this talk, it's that profiling tools fail silently in a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 a flame graph of a Python program bottoms out in the interpreter. It proves you're interpreter-bound but can't tell you which function to fix. You need a Python-level profiler as the second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Half a million calls a frame to a function whose body is 'return self'. It's a runtime type assertion in a dynamically typed language - the check is pure overhead. Once you see it in the profile it's obvious; nothing in the source reads as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last line. We didn't get the speedup by doing less geometry - the test count is identical. We made the same geometry cost less. The rejected column matters too: numpy is the obvious suggestion and it is wrong here, for a reason we can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tables together are the whole argument. Left: the machine did less. Right: which Python-level work disappeared. And the last row - intersectionTime is called exactly as often - proves we didn't cheat by skipping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likely question, so we front-run it. If someone points at the miss rate and says the optimization hurt locality, the answer is in the absolute counts. It's the same lesson the tutorial deliberately teaches with the 2D array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other fixes matter as much: move_to_front rebuilt a 256-entry list on every decoded symbol using three slices and a concatenation - replaced by one pop/insert. And bwt_transform sorted the whole block then ran 256 find() scans to compute what is just a cumulative histogram.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this one - it's the most useful process lesson in the project. Clearing the requirement is not the same as being done. The second profile is a different problem from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third row is honest: find_next_symbol's share went UP even though it got faster, because the total shrank. Every symbol in the stream has to be decoded exactly once - that part is intrinsic to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talk. Notice the interpreter share goes UP after optimization - that's not a regression, it's the floor becoming visible. We only argue for hardware once software has taken everything it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control logic slide-wide: there isn't any. That's deliberate - Lecture 5 says the systolic property is 'inputs processed every cycle, no control circuitry, most efficient silicon utilisation'. The price is that inputs must always be ready, which is what the FIFO guarantees, and Little's Law sizes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we synthesized it: no, and the spec explicitly doesn't require it. What we did do is verify functional correctness and the throughput claim in simulation, against real scene data rather than invented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the urge to widen the tolerance until a test passes. We found the mechanism, fixed what was fixable, and can point to a control case that confirms the diagnosis. The Q2.30 observation is the kind of thing they may ask about: choose the fixed-point format per operand from its known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valuable slide for a viva. We could have claimed a big speedup; instead we bounded it honestly and explained why building something more impressive would be wasted silicon. Lecture 1's argument applies: verification is the limiting cost, so build the smallest thing that removes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push on why not floating point - the answer is the scene is bounded, we measured the error at 9e-4 absolute which is 4.8e-5 relative on a value that ends up quantised to 256 colour levels, and FP32 would cost substantially more area for no visible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point 5 - it's the strongest argument that we understood the material rather than followed a recipe. Same methodology, two workloads, and the honest conclusion for one of them is that the simple accelerator pattern does not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facts if asked: 17 commits; measurements all inside the QEMU guest; flame graphs sampled on cpu-clock because PEBS isn't virtualised; the Q16.16 worst-case error is 9.0e-4 absolute, 4.8e-5 relative.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3"/>
        </a:solidFill>
      </p:bgPr>
    </p:bg>
    <p:spTree>
      <p:nvGrpSpPr>
        <p:cNvPr id="1" name=""/>
        <p:cNvGrpSpPr/>
        <p:nvPr/>
      </p:nvGrpSpPr>
      <p:grpSpPr>
        <a:xfrm>
          <a:off x="0" y="0"/>
          <a:ext cx="0" cy="0"/>
          <a:chOff x="0" y="0"/>
          <a:chExt cx="0" cy="0"/>
        </a:xfrm>
      </p:grpSpPr>
      <p:sp>
        <p:nvSpPr>
          <p:cNvPr id="2" name="Text 0"/>
          <p:cNvSpPr txBox="1"/>
          <p:nvPr/>
        </p:nvSpPr>
        <p:spPr>
          <a:xfrm>
            <a:off x="594360" y="1737360"/>
            <a:ext cx="877824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Benchmark Optimization,</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Analysis and Hardware Acceleration</a:t>
            </a:r>
            <a:endParaRPr lang="en-US" sz="4000" dirty="0"/>
          </a:p>
        </p:txBody>
      </p:sp>
      <p:sp>
        <p:nvSpPr>
          <p:cNvPr id="3" name="Text 1"/>
          <p:cNvSpPr txBox="1"/>
          <p:nvPr/>
        </p:nvSpPr>
        <p:spPr>
          <a:xfrm>
            <a:off x="594360" y="3611880"/>
            <a:ext cx="9144000" cy="365760"/>
          </a:xfrm>
          <a:prstGeom prst="rect">
            <a:avLst/>
          </a:prstGeom>
          <a:noFill/>
          <a:ln/>
        </p:spPr>
        <p:txBody>
          <a:bodyPr wrap="square" lIns="0" tIns="0" rIns="0" bIns="0" rtlCol="0" anchor="ctr"/>
          <a:lstStyle/>
          <a:p>
            <a:pPr indent="0" marL="0">
              <a:buNone/>
            </a:pPr>
            <a:r>
              <a:rPr lang="en-US" sz="1600" dirty="0">
                <a:solidFill>
                  <a:srgbClr val="E8552D"/>
                </a:solidFill>
                <a:latin typeface="Calibri" pitchFamily="34" charset="0"/>
                <a:ea typeface="Calibri" pitchFamily="34" charset="-122"/>
                <a:cs typeface="Calibri" pitchFamily="34" charset="-120"/>
              </a:rPr>
              <a:t>raytrace  ·  pyflate  ·  a ray–sphere intersection unit in Verilog</a:t>
            </a:r>
            <a:endParaRPr lang="en-US" sz="1600" dirty="0"/>
          </a:p>
        </p:txBody>
      </p:sp>
      <p:sp>
        <p:nvSpPr>
          <p:cNvPr id="4" name="Text 2"/>
          <p:cNvSpPr txBox="1"/>
          <p:nvPr/>
        </p:nvSpPr>
        <p:spPr>
          <a:xfrm>
            <a:off x="594360" y="5029200"/>
            <a:ext cx="7315200" cy="274320"/>
          </a:xfrm>
          <a:prstGeom prst="rect">
            <a:avLst/>
          </a:prstGeom>
          <a:noFill/>
          <a:ln/>
        </p:spPr>
        <p:txBody>
          <a:bodyPr wrap="square" lIns="0" tIns="0" rIns="0" bIns="0" rtlCol="0" anchor="ctr"/>
          <a:lstStyle/>
          <a:p>
            <a:pPr indent="0" marL="0">
              <a:buNone/>
            </a:pPr>
            <a:r>
              <a:rPr lang="en-US" sz="1300" dirty="0">
                <a:solidFill>
                  <a:srgbClr val="9AA0A6"/>
                </a:solidFill>
                <a:latin typeface="Calibri" pitchFamily="34" charset="0"/>
                <a:ea typeface="Calibri" pitchFamily="34" charset="-122"/>
                <a:cs typeface="Calibri" pitchFamily="34" charset="-120"/>
              </a:rPr>
              <a:t>Hardware/Software Co-Design (00460882) — Technion</a:t>
            </a:r>
            <a:endParaRPr lang="en-US" sz="1300" dirty="0"/>
          </a:p>
        </p:txBody>
      </p:sp>
      <p:sp>
        <p:nvSpPr>
          <p:cNvPr id="5" name="Text 3"/>
          <p:cNvSpPr txBox="1"/>
          <p:nvPr/>
        </p:nvSpPr>
        <p:spPr>
          <a:xfrm>
            <a:off x="594360" y="5349240"/>
            <a:ext cx="8229600" cy="274320"/>
          </a:xfrm>
          <a:prstGeom prst="rect">
            <a:avLst/>
          </a:prstGeom>
          <a:noFill/>
          <a:ln/>
        </p:spPr>
        <p:txBody>
          <a:bodyPr wrap="square" lIns="0" tIns="0" rIns="0" bIns="0" rtlCol="0" anchor="ctr"/>
          <a:lstStyle/>
          <a:p>
            <a:pPr indent="0" marL="0">
              <a:buNone/>
            </a:pPr>
            <a:r>
              <a:rPr lang="en-US" sz="1300" dirty="0">
                <a:solidFill>
                  <a:srgbClr val="9AA0A6"/>
                </a:solidFill>
                <a:latin typeface="Calibri" pitchFamily="34" charset="0"/>
                <a:ea typeface="Calibri" pitchFamily="34" charset="-122"/>
                <a:cs typeface="Calibri" pitchFamily="34" charset="-120"/>
              </a:rPr>
              <a:t>Ahmad Abd Alhaleem (322457763)   ·   Osama Abd Alhaleem (212604102)</a:t>
            </a:r>
            <a:endParaRPr lang="en-US" sz="1300" dirty="0"/>
          </a:p>
        </p:txBody>
      </p:sp>
      <p:sp>
        <p:nvSpPr>
          <p:cNvPr id="6" name="Shape 4"/>
          <p:cNvSpPr/>
          <p:nvPr/>
        </p:nvSpPr>
        <p:spPr>
          <a:xfrm>
            <a:off x="9601200" y="1737360"/>
            <a:ext cx="1965960" cy="2103120"/>
          </a:xfrm>
          <a:prstGeom prst="roundRect">
            <a:avLst>
              <a:gd name="adj" fmla="val 3721"/>
            </a:avLst>
          </a:prstGeom>
          <a:solidFill>
            <a:srgbClr val="24282F"/>
          </a:solidFill>
          <a:ln w="12700">
            <a:solidFill>
              <a:srgbClr val="343A43"/>
            </a:solidFill>
            <a:prstDash val="solid"/>
          </a:ln>
        </p:spPr>
      </p:sp>
      <p:sp>
        <p:nvSpPr>
          <p:cNvPr id="7" name="Text 5"/>
          <p:cNvSpPr txBox="1"/>
          <p:nvPr/>
        </p:nvSpPr>
        <p:spPr>
          <a:xfrm>
            <a:off x="9601200" y="1920240"/>
            <a:ext cx="1965960" cy="640080"/>
          </a:xfrm>
          <a:prstGeom prst="rect">
            <a:avLst/>
          </a:prstGeom>
          <a:noFill/>
          <a:ln/>
        </p:spPr>
        <p:txBody>
          <a:bodyPr wrap="square" lIns="0" tIns="0" rIns="0" bIns="0" rtlCol="0" anchor="ctr"/>
          <a:lstStyle/>
          <a:p>
            <a:pPr algn="ctr" indent="0" marL="0">
              <a:buNone/>
            </a:pPr>
            <a:r>
              <a:rPr lang="en-US" sz="3400" b="1" dirty="0">
                <a:solidFill>
                  <a:srgbClr val="E8552D"/>
                </a:solidFill>
                <a:latin typeface="Cambria" pitchFamily="34" charset="0"/>
                <a:ea typeface="Cambria" pitchFamily="34" charset="-122"/>
                <a:cs typeface="Cambria" pitchFamily="34" charset="-120"/>
              </a:rPr>
              <a:t>2.98×</a:t>
            </a:r>
            <a:endParaRPr lang="en-US" sz="3400" dirty="0"/>
          </a:p>
        </p:txBody>
      </p:sp>
      <p:sp>
        <p:nvSpPr>
          <p:cNvPr id="8" name="Text 6"/>
          <p:cNvSpPr txBox="1"/>
          <p:nvPr/>
        </p:nvSpPr>
        <p:spPr>
          <a:xfrm>
            <a:off x="9601200" y="2514600"/>
            <a:ext cx="1965960" cy="274320"/>
          </a:xfrm>
          <a:prstGeom prst="rect">
            <a:avLst/>
          </a:prstGeom>
          <a:noFill/>
          <a:ln/>
        </p:spPr>
        <p:txBody>
          <a:bodyPr wrap="square" lIns="0" tIns="0" rIns="0" bIns="0" rtlCol="0" anchor="ctr"/>
          <a:lstStyle/>
          <a:p>
            <a:pPr algn="ctr" indent="0" marL="0">
              <a:buNone/>
            </a:pPr>
            <a:r>
              <a:rPr lang="en-US" sz="1200" dirty="0">
                <a:solidFill>
                  <a:srgbClr val="9AA0A6"/>
                </a:solidFill>
                <a:latin typeface="Calibri" pitchFamily="34" charset="0"/>
                <a:ea typeface="Calibri" pitchFamily="34" charset="-122"/>
                <a:cs typeface="Calibri" pitchFamily="34" charset="-120"/>
              </a:rPr>
              <a:t>raytrace</a:t>
            </a:r>
            <a:endParaRPr lang="en-US" sz="1200" dirty="0"/>
          </a:p>
        </p:txBody>
      </p:sp>
      <p:sp>
        <p:nvSpPr>
          <p:cNvPr id="9" name="Text 7"/>
          <p:cNvSpPr txBox="1"/>
          <p:nvPr/>
        </p:nvSpPr>
        <p:spPr>
          <a:xfrm>
            <a:off x="9601200" y="2880360"/>
            <a:ext cx="1965960" cy="548640"/>
          </a:xfrm>
          <a:prstGeom prst="rect">
            <a:avLst/>
          </a:prstGeom>
          <a:noFill/>
          <a:ln/>
        </p:spPr>
        <p:txBody>
          <a:bodyPr wrap="square" lIns="0" tIns="0" rIns="0" bIns="0" rtlCol="0" anchor="ctr"/>
          <a:lstStyle/>
          <a:p>
            <a:pPr algn="ctr" indent="0" marL="0">
              <a:buNone/>
            </a:pPr>
            <a:r>
              <a:rPr lang="en-US" sz="2800" b="1" dirty="0">
                <a:solidFill>
                  <a:srgbClr val="2D9596"/>
                </a:solidFill>
                <a:latin typeface="Cambria" pitchFamily="34" charset="0"/>
                <a:ea typeface="Cambria" pitchFamily="34" charset="-122"/>
                <a:cs typeface="Cambria" pitchFamily="34" charset="-120"/>
              </a:rPr>
              <a:t>1.44×</a:t>
            </a:r>
            <a:endParaRPr lang="en-US" sz="2800" dirty="0"/>
          </a:p>
        </p:txBody>
      </p:sp>
      <p:sp>
        <p:nvSpPr>
          <p:cNvPr id="10" name="Text 8"/>
          <p:cNvSpPr txBox="1"/>
          <p:nvPr/>
        </p:nvSpPr>
        <p:spPr>
          <a:xfrm>
            <a:off x="9601200" y="3401568"/>
            <a:ext cx="1965960" cy="274320"/>
          </a:xfrm>
          <a:prstGeom prst="rect">
            <a:avLst/>
          </a:prstGeom>
          <a:noFill/>
          <a:ln/>
        </p:spPr>
        <p:txBody>
          <a:bodyPr wrap="square" lIns="0" tIns="0" rIns="0" bIns="0" rtlCol="0" anchor="ctr"/>
          <a:lstStyle/>
          <a:p>
            <a:pPr algn="ctr" indent="0" marL="0">
              <a:buNone/>
            </a:pPr>
            <a:r>
              <a:rPr lang="en-US" sz="1200" dirty="0">
                <a:solidFill>
                  <a:srgbClr val="9AA0A6"/>
                </a:solidFill>
                <a:latin typeface="Calibri" pitchFamily="34" charset="0"/>
                <a:ea typeface="Calibri" pitchFamily="34" charset="-122"/>
                <a:cs typeface="Calibri" pitchFamily="34" charset="-120"/>
              </a:rPr>
              <a:t>pyflate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WHAT WE CHOSE AND WHY</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Two benchmarks, deliberately unalike</a:t>
            </a:r>
            <a:endParaRPr lang="en-US" sz="3200" dirty="0"/>
          </a:p>
        </p:txBody>
      </p:sp>
      <p:sp>
        <p:nvSpPr>
          <p:cNvPr id="4" name="Text 2"/>
          <p:cNvSpPr txBox="1"/>
          <p:nvPr/>
        </p:nvSpPr>
        <p:spPr>
          <a:xfrm>
            <a:off x="594360" y="1417320"/>
            <a:ext cx="10881360" cy="548640"/>
          </a:xfrm>
          <a:prstGeom prst="rect">
            <a:avLst/>
          </a:prstGeom>
          <a:noFill/>
          <a:ln/>
        </p:spPr>
        <p:txBody>
          <a:bodyPr wrap="square" lIns="0" tIns="0" rIns="0" bIns="0" rtlCol="0" anchor="ctr"/>
          <a:lstStyle/>
          <a:p>
            <a:pPr indent="0" marL="0">
              <a:lnSpc>
                <a:spcPct val="115000"/>
              </a:lnSpc>
              <a:buNone/>
            </a:pPr>
            <a:r>
              <a:rPr lang="en-US" sz="1400" dirty="0">
                <a:solidFill>
                  <a:srgbClr val="23272E"/>
                </a:solidFill>
                <a:latin typeface="Calibri" pitchFamily="34" charset="0"/>
                <a:ea typeface="Calibri" pitchFamily="34" charset="-122"/>
                <a:cs typeface="Calibri" pitchFamily="34" charset="-120"/>
              </a:rPr>
              <a:t>The project asks for two benchmarks from an approved list. We picked a pair that stress the machine in opposite ways, so that the hardware conclusions would differ rather than repeat.</a:t>
            </a:r>
            <a:endParaRPr lang="en-US" sz="1400" dirty="0"/>
          </a:p>
        </p:txBody>
      </p:sp>
      <p:sp>
        <p:nvSpPr>
          <p:cNvPr id="5" name="Shape 3"/>
          <p:cNvSpPr/>
          <p:nvPr/>
        </p:nvSpPr>
        <p:spPr>
          <a:xfrm>
            <a:off x="594360" y="2148840"/>
            <a:ext cx="5257800" cy="3200400"/>
          </a:xfrm>
          <a:prstGeom prst="roundRect">
            <a:avLst>
              <a:gd name="adj" fmla="val 1714"/>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6" name="Text 4"/>
          <p:cNvSpPr txBox="1"/>
          <p:nvPr/>
        </p:nvSpPr>
        <p:spPr>
          <a:xfrm>
            <a:off x="868680" y="2331720"/>
            <a:ext cx="3657600" cy="365760"/>
          </a:xfrm>
          <a:prstGeom prst="rect">
            <a:avLst/>
          </a:prstGeom>
          <a:noFill/>
          <a:ln/>
        </p:spPr>
        <p:txBody>
          <a:bodyPr wrap="square" lIns="0" tIns="0" rIns="0" bIns="0" rtlCol="0" anchor="ctr"/>
          <a:lstStyle/>
          <a:p>
            <a:pPr indent="0" marL="0">
              <a:buNone/>
            </a:pPr>
            <a:r>
              <a:rPr lang="en-US" sz="2200" b="1" dirty="0">
                <a:solidFill>
                  <a:srgbClr val="E8552D"/>
                </a:solidFill>
                <a:latin typeface="Cambria" pitchFamily="34" charset="0"/>
                <a:ea typeface="Cambria" pitchFamily="34" charset="-122"/>
                <a:cs typeface="Cambria" pitchFamily="34" charset="-120"/>
              </a:rPr>
              <a:t>raytrace</a:t>
            </a:r>
            <a:endParaRPr lang="en-US" sz="2200" dirty="0"/>
          </a:p>
        </p:txBody>
      </p:sp>
      <p:sp>
        <p:nvSpPr>
          <p:cNvPr id="7" name="Text 5"/>
          <p:cNvSpPr txBox="1"/>
          <p:nvPr/>
        </p:nvSpPr>
        <p:spPr>
          <a:xfrm>
            <a:off x="868680" y="2834640"/>
            <a:ext cx="4709160" cy="219456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23272E"/>
                </a:solidFill>
                <a:latin typeface="Calibri" pitchFamily="34" charset="0"/>
                <a:ea typeface="Calibri" pitchFamily="34" charset="-122"/>
                <a:cs typeface="Calibri" pitchFamily="34" charset="-120"/>
              </a:rPr>
              <a:t>Renders a 100×100 image of 7 spheres + a ground plane</a:t>
            </a:r>
            <a:endParaRPr lang="en-US" sz="1300" dirty="0"/>
          </a:p>
          <a:p>
            <a:pPr marL="342900" indent="-342900">
              <a:spcAft>
                <a:spcPts val="800"/>
              </a:spcAft>
              <a:buSzPct val="100000"/>
              <a:buChar char="•"/>
            </a:pPr>
            <a:r>
              <a:rPr lang="en-US" sz="1300" dirty="0">
                <a:solidFill>
                  <a:srgbClr val="23272E"/>
                </a:solidFill>
                <a:latin typeface="Calibri" pitchFamily="34" charset="0"/>
                <a:ea typeface="Calibri" pitchFamily="34" charset="-122"/>
                <a:cs typeface="Calibri" pitchFamily="34" charset="-120"/>
              </a:rPr>
              <a:t>Pure-Python float vector maths — no numpy, no C</a:t>
            </a:r>
            <a:endParaRPr lang="en-US" sz="1300" dirty="0"/>
          </a:p>
          <a:p>
            <a:pPr marL="342900" indent="-342900">
              <a:spcAft>
                <a:spcPts val="800"/>
              </a:spcAft>
              <a:buSzPct val="100000"/>
              <a:buChar char="•"/>
            </a:pPr>
            <a:r>
              <a:rPr lang="en-US" sz="1300" dirty="0">
                <a:solidFill>
                  <a:srgbClr val="23272E"/>
                </a:solidFill>
                <a:latin typeface="Calibri" pitchFamily="34" charset="0"/>
                <a:ea typeface="Calibri" pitchFamily="34" charset="-122"/>
                <a:cs typeface="Calibri" pitchFamily="34" charset="-120"/>
              </a:rPr>
              <a:t>Regular, fixed-shape arithmetic</a:t>
            </a:r>
            <a:endParaRPr lang="en-US" sz="1300" dirty="0"/>
          </a:p>
          <a:p>
            <a:pPr marL="342900" indent="-342900">
              <a:spcAft>
                <a:spcPts val="800"/>
              </a:spcAft>
              <a:buSzPct val="100000"/>
              <a:buChar char="•"/>
            </a:pPr>
            <a:r>
              <a:rPr lang="en-US" sz="1300" dirty="0">
                <a:solidFill>
                  <a:srgbClr val="23272E"/>
                </a:solidFill>
                <a:latin typeface="Calibri" pitchFamily="34" charset="0"/>
                <a:ea typeface="Calibri" pitchFamily="34" charset="-122"/>
                <a:cs typeface="Calibri" pitchFamily="34" charset="-120"/>
              </a:rPr>
              <a:t>204,958 ray–object intersection tests per frame</a:t>
            </a:r>
            <a:endParaRPr lang="en-US" sz="1300" dirty="0"/>
          </a:p>
        </p:txBody>
      </p:sp>
      <p:sp>
        <p:nvSpPr>
          <p:cNvPr id="8" name="Shape 6"/>
          <p:cNvSpPr/>
          <p:nvPr/>
        </p:nvSpPr>
        <p:spPr>
          <a:xfrm>
            <a:off x="6309360" y="2148840"/>
            <a:ext cx="5257800" cy="3200400"/>
          </a:xfrm>
          <a:prstGeom prst="roundRect">
            <a:avLst>
              <a:gd name="adj" fmla="val 1714"/>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9" name="Text 7"/>
          <p:cNvSpPr txBox="1"/>
          <p:nvPr/>
        </p:nvSpPr>
        <p:spPr>
          <a:xfrm>
            <a:off x="6583680" y="2331720"/>
            <a:ext cx="3657600" cy="365760"/>
          </a:xfrm>
          <a:prstGeom prst="rect">
            <a:avLst/>
          </a:prstGeom>
          <a:noFill/>
          <a:ln/>
        </p:spPr>
        <p:txBody>
          <a:bodyPr wrap="square" lIns="0" tIns="0" rIns="0" bIns="0" rtlCol="0" anchor="ctr"/>
          <a:lstStyle/>
          <a:p>
            <a:pPr indent="0" marL="0">
              <a:buNone/>
            </a:pPr>
            <a:r>
              <a:rPr lang="en-US" sz="2200" b="1" dirty="0">
                <a:solidFill>
                  <a:srgbClr val="2D9596"/>
                </a:solidFill>
                <a:latin typeface="Cambria" pitchFamily="34" charset="0"/>
                <a:ea typeface="Cambria" pitchFamily="34" charset="-122"/>
                <a:cs typeface="Cambria" pitchFamily="34" charset="-120"/>
              </a:rPr>
              <a:t>pyflate</a:t>
            </a:r>
            <a:endParaRPr lang="en-US" sz="2200" dirty="0"/>
          </a:p>
        </p:txBody>
      </p:sp>
      <p:sp>
        <p:nvSpPr>
          <p:cNvPr id="10" name="Text 8"/>
          <p:cNvSpPr txBox="1"/>
          <p:nvPr/>
        </p:nvSpPr>
        <p:spPr>
          <a:xfrm>
            <a:off x="6583680" y="2834640"/>
            <a:ext cx="4709160" cy="219456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23272E"/>
                </a:solidFill>
                <a:latin typeface="Calibri" pitchFamily="34" charset="0"/>
                <a:ea typeface="Calibri" pitchFamily="34" charset="-122"/>
                <a:cs typeface="Calibri" pitchFamily="34" charset="-120"/>
              </a:rPr>
              <a:t>Pure-Python bzip2 / DEFLATE decompressor</a:t>
            </a:r>
            <a:endParaRPr lang="en-US" sz="1300" dirty="0"/>
          </a:p>
          <a:p>
            <a:pPr marL="342900" indent="-342900">
              <a:spcAft>
                <a:spcPts val="800"/>
              </a:spcAft>
              <a:buSzPct val="100000"/>
              <a:buChar char="•"/>
            </a:pPr>
            <a:r>
              <a:rPr lang="en-US" sz="1300" dirty="0">
                <a:solidFill>
                  <a:srgbClr val="23272E"/>
                </a:solidFill>
                <a:latin typeface="Calibri" pitchFamily="34" charset="0"/>
                <a:ea typeface="Calibri" pitchFamily="34" charset="-122"/>
                <a:cs typeface="Calibri" pitchFamily="34" charset="-120"/>
              </a:rPr>
              <a:t>Bit-level integer work, Huffman + BWT</a:t>
            </a:r>
            <a:endParaRPr lang="en-US" sz="1300" dirty="0"/>
          </a:p>
          <a:p>
            <a:pPr marL="342900" indent="-342900">
              <a:spcAft>
                <a:spcPts val="800"/>
              </a:spcAft>
              <a:buSzPct val="100000"/>
              <a:buChar char="•"/>
            </a:pPr>
            <a:r>
              <a:rPr lang="en-US" sz="1300" dirty="0">
                <a:solidFill>
                  <a:srgbClr val="23272E"/>
                </a:solidFill>
                <a:latin typeface="Calibri" pitchFamily="34" charset="0"/>
                <a:ea typeface="Calibri" pitchFamily="34" charset="-122"/>
                <a:cs typeface="Calibri" pitchFamily="34" charset="-120"/>
              </a:rPr>
              <a:t>Irregular, data-dependent control flow</a:t>
            </a:r>
            <a:endParaRPr lang="en-US" sz="1300" dirty="0"/>
          </a:p>
          <a:p>
            <a:pPr marL="342900" indent="-342900">
              <a:spcAft>
                <a:spcPts val="800"/>
              </a:spcAft>
              <a:buSzPct val="100000"/>
              <a:buChar char="•"/>
            </a:pPr>
            <a:r>
              <a:rPr lang="en-US" sz="1300" dirty="0">
                <a:solidFill>
                  <a:srgbClr val="23272E"/>
                </a:solidFill>
                <a:latin typeface="Calibri" pitchFamily="34" charset="0"/>
                <a:ea typeface="Calibri" pitchFamily="34" charset="-122"/>
                <a:cs typeface="Calibri" pitchFamily="34" charset="-120"/>
              </a:rPr>
              <a:t>Self-verifying: asserts an md5 of its output</a:t>
            </a:r>
            <a:endParaRPr lang="en-US" sz="1300" dirty="0"/>
          </a:p>
        </p:txBody>
      </p:sp>
      <p:sp>
        <p:nvSpPr>
          <p:cNvPr id="11" name="Text 9"/>
          <p:cNvSpPr txBox="1"/>
          <p:nvPr/>
        </p:nvSpPr>
        <p:spPr>
          <a:xfrm>
            <a:off x="594360" y="5577840"/>
            <a:ext cx="1088136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Same profiling method, two very different hardware answers — that contrast is the point.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The loop we actually ran</a:t>
            </a:r>
            <a:endParaRPr lang="en-US" sz="3200" dirty="0"/>
          </a:p>
        </p:txBody>
      </p:sp>
      <p:sp>
        <p:nvSpPr>
          <p:cNvPr id="4" name="Shape 2"/>
          <p:cNvSpPr/>
          <p:nvPr/>
        </p:nvSpPr>
        <p:spPr>
          <a:xfrm>
            <a:off x="594360" y="2103120"/>
            <a:ext cx="2048256" cy="2286000"/>
          </a:xfrm>
          <a:prstGeom prst="roundRect">
            <a:avLst>
              <a:gd name="adj" fmla="val 2679"/>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5" name="Shape 3"/>
          <p:cNvSpPr/>
          <p:nvPr/>
        </p:nvSpPr>
        <p:spPr>
          <a:xfrm>
            <a:off x="822960" y="2331720"/>
            <a:ext cx="310896" cy="310896"/>
          </a:xfrm>
          <a:prstGeom prst="ellipse">
            <a:avLst/>
          </a:prstGeom>
          <a:solidFill>
            <a:srgbClr val="E8552D"/>
          </a:solidFill>
          <a:ln/>
        </p:spPr>
      </p:sp>
      <p:sp>
        <p:nvSpPr>
          <p:cNvPr id="6" name="Text 4"/>
          <p:cNvSpPr txBox="1"/>
          <p:nvPr/>
        </p:nvSpPr>
        <p:spPr>
          <a:xfrm>
            <a:off x="822960" y="23317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22960" y="2788920"/>
            <a:ext cx="1591056" cy="685800"/>
          </a:xfrm>
          <a:prstGeom prst="rect">
            <a:avLst/>
          </a:prstGeom>
          <a:noFill/>
          <a:ln/>
        </p:spPr>
        <p:txBody>
          <a:bodyPr wrap="square" lIns="0" tIns="0" rIns="0" bIns="0" rtlCol="0" anchor="ctr"/>
          <a:lstStyle/>
          <a:p>
            <a:pPr indent="0" marL="0">
              <a:buNone/>
            </a:pPr>
            <a:r>
              <a:rPr lang="en-US" sz="1600" b="1" dirty="0">
                <a:solidFill>
                  <a:srgbClr val="23272E"/>
                </a:solidFill>
                <a:latin typeface="Cambria" pitchFamily="34" charset="0"/>
                <a:ea typeface="Cambria" pitchFamily="34" charset="-122"/>
                <a:cs typeface="Cambria" pitchFamily="34" charset="-120"/>
              </a:rPr>
              <a:t>Measure</a:t>
            </a:r>
            <a:endParaRPr lang="en-US" sz="1600" dirty="0"/>
          </a:p>
        </p:txBody>
      </p:sp>
      <p:sp>
        <p:nvSpPr>
          <p:cNvPr id="8" name="Text 6"/>
          <p:cNvSpPr txBox="1"/>
          <p:nvPr/>
        </p:nvSpPr>
        <p:spPr>
          <a:xfrm>
            <a:off x="822960" y="3474720"/>
            <a:ext cx="1591056" cy="8229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pyperf for time,</a:t>
            </a:r>
            <a:endParaRPr lang="en-US" sz="1150" dirty="0"/>
          </a:p>
          <a:p>
            <a:pPr indent="0" marL="0">
              <a:buNone/>
            </a:pPr>
            <a:r>
              <a:rPr lang="en-US" sz="1150" dirty="0">
                <a:solidFill>
                  <a:srgbClr val="6B7280"/>
                </a:solidFill>
                <a:latin typeface="Calibri" pitchFamily="34" charset="0"/>
                <a:ea typeface="Calibri" pitchFamily="34" charset="-122"/>
                <a:cs typeface="Calibri" pitchFamily="34" charset="-120"/>
              </a:rPr>
              <a:t>perf for counters</a:t>
            </a:r>
            <a:endParaRPr lang="en-US" sz="1150" dirty="0"/>
          </a:p>
        </p:txBody>
      </p:sp>
      <p:sp>
        <p:nvSpPr>
          <p:cNvPr id="9" name="Shape 7"/>
          <p:cNvSpPr/>
          <p:nvPr/>
        </p:nvSpPr>
        <p:spPr>
          <a:xfrm>
            <a:off x="2816352" y="2103120"/>
            <a:ext cx="2048256" cy="2286000"/>
          </a:xfrm>
          <a:prstGeom prst="roundRect">
            <a:avLst>
              <a:gd name="adj" fmla="val 2679"/>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0" name="Shape 8"/>
          <p:cNvSpPr/>
          <p:nvPr/>
        </p:nvSpPr>
        <p:spPr>
          <a:xfrm>
            <a:off x="3044952" y="2331720"/>
            <a:ext cx="310896" cy="310896"/>
          </a:xfrm>
          <a:prstGeom prst="ellipse">
            <a:avLst/>
          </a:prstGeom>
          <a:solidFill>
            <a:srgbClr val="E8552D"/>
          </a:solidFill>
          <a:ln/>
        </p:spPr>
      </p:sp>
      <p:sp>
        <p:nvSpPr>
          <p:cNvPr id="11" name="Text 9"/>
          <p:cNvSpPr txBox="1"/>
          <p:nvPr/>
        </p:nvSpPr>
        <p:spPr>
          <a:xfrm>
            <a:off x="3044952" y="23317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044952" y="2788920"/>
            <a:ext cx="1591056" cy="685800"/>
          </a:xfrm>
          <a:prstGeom prst="rect">
            <a:avLst/>
          </a:prstGeom>
          <a:noFill/>
          <a:ln/>
        </p:spPr>
        <p:txBody>
          <a:bodyPr wrap="square" lIns="0" tIns="0" rIns="0" bIns="0" rtlCol="0" anchor="ctr"/>
          <a:lstStyle/>
          <a:p>
            <a:pPr indent="0" marL="0">
              <a:buNone/>
            </a:pPr>
            <a:r>
              <a:rPr lang="en-US" sz="1600" b="1" dirty="0">
                <a:solidFill>
                  <a:srgbClr val="23272E"/>
                </a:solidFill>
                <a:latin typeface="Cambria" pitchFamily="34" charset="0"/>
                <a:ea typeface="Cambria" pitchFamily="34" charset="-122"/>
                <a:cs typeface="Cambria" pitchFamily="34" charset="-120"/>
              </a:rPr>
              <a:t>Find the</a:t>
            </a:r>
            <a:endParaRPr lang="en-US" sz="1600" dirty="0"/>
          </a:p>
          <a:p>
            <a:pPr indent="0" marL="0">
              <a:buNone/>
            </a:pPr>
            <a:r>
              <a:rPr lang="en-US" sz="1600" b="1" dirty="0">
                <a:solidFill>
                  <a:srgbClr val="23272E"/>
                </a:solidFill>
                <a:latin typeface="Cambria" pitchFamily="34" charset="0"/>
                <a:ea typeface="Cambria" pitchFamily="34" charset="-122"/>
                <a:cs typeface="Cambria" pitchFamily="34" charset="-120"/>
              </a:rPr>
              <a:t>bottleneck</a:t>
            </a:r>
            <a:endParaRPr lang="en-US" sz="1600" dirty="0"/>
          </a:p>
        </p:txBody>
      </p:sp>
      <p:sp>
        <p:nvSpPr>
          <p:cNvPr id="13" name="Text 11"/>
          <p:cNvSpPr txBox="1"/>
          <p:nvPr/>
        </p:nvSpPr>
        <p:spPr>
          <a:xfrm>
            <a:off x="3044952" y="3474720"/>
            <a:ext cx="1591056" cy="8229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flame graph = where</a:t>
            </a:r>
            <a:endParaRPr lang="en-US" sz="1150" dirty="0"/>
          </a:p>
          <a:p>
            <a:pPr indent="0" marL="0">
              <a:buNone/>
            </a:pPr>
            <a:r>
              <a:rPr lang="en-US" sz="1150" dirty="0">
                <a:solidFill>
                  <a:srgbClr val="6B7280"/>
                </a:solidFill>
                <a:latin typeface="Calibri" pitchFamily="34" charset="0"/>
                <a:ea typeface="Calibri" pitchFamily="34" charset="-122"/>
                <a:cs typeface="Calibri" pitchFamily="34" charset="-120"/>
              </a:rPr>
              <a:t>cProfile = which function</a:t>
            </a:r>
            <a:endParaRPr lang="en-US" sz="1150" dirty="0"/>
          </a:p>
        </p:txBody>
      </p:sp>
      <p:sp>
        <p:nvSpPr>
          <p:cNvPr id="14" name="Shape 12"/>
          <p:cNvSpPr/>
          <p:nvPr/>
        </p:nvSpPr>
        <p:spPr>
          <a:xfrm>
            <a:off x="5038344" y="2103120"/>
            <a:ext cx="2048256" cy="2286000"/>
          </a:xfrm>
          <a:prstGeom prst="roundRect">
            <a:avLst>
              <a:gd name="adj" fmla="val 2679"/>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5" name="Shape 13"/>
          <p:cNvSpPr/>
          <p:nvPr/>
        </p:nvSpPr>
        <p:spPr>
          <a:xfrm>
            <a:off x="5266944" y="2331720"/>
            <a:ext cx="310896" cy="310896"/>
          </a:xfrm>
          <a:prstGeom prst="ellipse">
            <a:avLst/>
          </a:prstGeom>
          <a:solidFill>
            <a:srgbClr val="E8552D"/>
          </a:solidFill>
          <a:ln/>
        </p:spPr>
      </p:sp>
      <p:sp>
        <p:nvSpPr>
          <p:cNvPr id="16" name="Text 14"/>
          <p:cNvSpPr txBox="1"/>
          <p:nvPr/>
        </p:nvSpPr>
        <p:spPr>
          <a:xfrm>
            <a:off x="5266944" y="23317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5266944" y="2788920"/>
            <a:ext cx="1591056" cy="685800"/>
          </a:xfrm>
          <a:prstGeom prst="rect">
            <a:avLst/>
          </a:prstGeom>
          <a:noFill/>
          <a:ln/>
        </p:spPr>
        <p:txBody>
          <a:bodyPr wrap="square" lIns="0" tIns="0" rIns="0" bIns="0" rtlCol="0" anchor="ctr"/>
          <a:lstStyle/>
          <a:p>
            <a:pPr indent="0" marL="0">
              <a:buNone/>
            </a:pPr>
            <a:r>
              <a:rPr lang="en-US" sz="1600" b="1" dirty="0">
                <a:solidFill>
                  <a:srgbClr val="23272E"/>
                </a:solidFill>
                <a:latin typeface="Cambria" pitchFamily="34" charset="0"/>
                <a:ea typeface="Cambria" pitchFamily="34" charset="-122"/>
                <a:cs typeface="Cambria" pitchFamily="34" charset="-120"/>
              </a:rPr>
              <a:t>Optimize</a:t>
            </a:r>
            <a:endParaRPr lang="en-US" sz="1600" dirty="0"/>
          </a:p>
        </p:txBody>
      </p:sp>
      <p:sp>
        <p:nvSpPr>
          <p:cNvPr id="18" name="Text 16"/>
          <p:cNvSpPr txBox="1"/>
          <p:nvPr/>
        </p:nvSpPr>
        <p:spPr>
          <a:xfrm>
            <a:off x="5266944" y="3474720"/>
            <a:ext cx="1591056" cy="8229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behaviour-preserving</a:t>
            </a:r>
            <a:endParaRPr lang="en-US" sz="1150" dirty="0"/>
          </a:p>
          <a:p>
            <a:pPr indent="0" marL="0">
              <a:buNone/>
            </a:pPr>
            <a:r>
              <a:rPr lang="en-US" sz="1150" dirty="0">
                <a:solidFill>
                  <a:srgbClr val="6B7280"/>
                </a:solidFill>
                <a:latin typeface="Calibri" pitchFamily="34" charset="0"/>
                <a:ea typeface="Calibri" pitchFamily="34" charset="-122"/>
                <a:cs typeface="Calibri" pitchFamily="34" charset="-120"/>
              </a:rPr>
              <a:t>refactors only</a:t>
            </a:r>
            <a:endParaRPr lang="en-US" sz="1150" dirty="0"/>
          </a:p>
        </p:txBody>
      </p:sp>
      <p:sp>
        <p:nvSpPr>
          <p:cNvPr id="19" name="Shape 17"/>
          <p:cNvSpPr/>
          <p:nvPr/>
        </p:nvSpPr>
        <p:spPr>
          <a:xfrm>
            <a:off x="7260336" y="2103120"/>
            <a:ext cx="2048256" cy="2286000"/>
          </a:xfrm>
          <a:prstGeom prst="roundRect">
            <a:avLst>
              <a:gd name="adj" fmla="val 2679"/>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20" name="Shape 18"/>
          <p:cNvSpPr/>
          <p:nvPr/>
        </p:nvSpPr>
        <p:spPr>
          <a:xfrm>
            <a:off x="7488936" y="2331720"/>
            <a:ext cx="310896" cy="310896"/>
          </a:xfrm>
          <a:prstGeom prst="ellipse">
            <a:avLst/>
          </a:prstGeom>
          <a:solidFill>
            <a:srgbClr val="E8552D"/>
          </a:solidFill>
          <a:ln/>
        </p:spPr>
      </p:sp>
      <p:sp>
        <p:nvSpPr>
          <p:cNvPr id="21" name="Text 19"/>
          <p:cNvSpPr txBox="1"/>
          <p:nvPr/>
        </p:nvSpPr>
        <p:spPr>
          <a:xfrm>
            <a:off x="7488936" y="23317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488936" y="2788920"/>
            <a:ext cx="1591056" cy="685800"/>
          </a:xfrm>
          <a:prstGeom prst="rect">
            <a:avLst/>
          </a:prstGeom>
          <a:noFill/>
          <a:ln/>
        </p:spPr>
        <p:txBody>
          <a:bodyPr wrap="square" lIns="0" tIns="0" rIns="0" bIns="0" rtlCol="0" anchor="ctr"/>
          <a:lstStyle/>
          <a:p>
            <a:pPr indent="0" marL="0">
              <a:buNone/>
            </a:pPr>
            <a:r>
              <a:rPr lang="en-US" sz="1600" b="1" dirty="0">
                <a:solidFill>
                  <a:srgbClr val="23272E"/>
                </a:solidFill>
                <a:latin typeface="Cambria" pitchFamily="34" charset="0"/>
                <a:ea typeface="Cambria" pitchFamily="34" charset="-122"/>
                <a:cs typeface="Cambria" pitchFamily="34" charset="-120"/>
              </a:rPr>
              <a:t>Re-measure</a:t>
            </a:r>
            <a:endParaRPr lang="en-US" sz="1600" dirty="0"/>
          </a:p>
        </p:txBody>
      </p:sp>
      <p:sp>
        <p:nvSpPr>
          <p:cNvPr id="23" name="Text 21"/>
          <p:cNvSpPr txBox="1"/>
          <p:nvPr/>
        </p:nvSpPr>
        <p:spPr>
          <a:xfrm>
            <a:off x="7488936" y="3474720"/>
            <a:ext cx="1591056" cy="8229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prove it, and check</a:t>
            </a:r>
            <a:endParaRPr lang="en-US" sz="1150" dirty="0"/>
          </a:p>
          <a:p>
            <a:pPr indent="0" marL="0">
              <a:buNone/>
            </a:pPr>
            <a:r>
              <a:rPr lang="en-US" sz="1150" dirty="0">
                <a:solidFill>
                  <a:srgbClr val="6B7280"/>
                </a:solidFill>
                <a:latin typeface="Calibri" pitchFamily="34" charset="0"/>
                <a:ea typeface="Calibri" pitchFamily="34" charset="-122"/>
                <a:cs typeface="Calibri" pitchFamily="34" charset="-120"/>
              </a:rPr>
              <a:t>what moved to the top</a:t>
            </a:r>
            <a:endParaRPr lang="en-US" sz="1150" dirty="0"/>
          </a:p>
        </p:txBody>
      </p:sp>
      <p:sp>
        <p:nvSpPr>
          <p:cNvPr id="24" name="Shape 22"/>
          <p:cNvSpPr/>
          <p:nvPr/>
        </p:nvSpPr>
        <p:spPr>
          <a:xfrm>
            <a:off x="9482328" y="2103120"/>
            <a:ext cx="2048256" cy="2286000"/>
          </a:xfrm>
          <a:prstGeom prst="roundRect">
            <a:avLst>
              <a:gd name="adj" fmla="val 2679"/>
            </a:avLst>
          </a:prstGeom>
          <a:solidFill>
            <a:srgbClr val="EAF5F5"/>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25" name="Shape 23"/>
          <p:cNvSpPr/>
          <p:nvPr/>
        </p:nvSpPr>
        <p:spPr>
          <a:xfrm>
            <a:off x="9710928" y="2331720"/>
            <a:ext cx="310896" cy="310896"/>
          </a:xfrm>
          <a:prstGeom prst="ellipse">
            <a:avLst/>
          </a:prstGeom>
          <a:solidFill>
            <a:srgbClr val="2D9596"/>
          </a:solidFill>
          <a:ln/>
        </p:spPr>
      </p:sp>
      <p:sp>
        <p:nvSpPr>
          <p:cNvPr id="26" name="Text 24"/>
          <p:cNvSpPr txBox="1"/>
          <p:nvPr/>
        </p:nvSpPr>
        <p:spPr>
          <a:xfrm>
            <a:off x="9710928" y="23317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9710928" y="2788920"/>
            <a:ext cx="1591056" cy="685800"/>
          </a:xfrm>
          <a:prstGeom prst="rect">
            <a:avLst/>
          </a:prstGeom>
          <a:noFill/>
          <a:ln/>
        </p:spPr>
        <p:txBody>
          <a:bodyPr wrap="square" lIns="0" tIns="0" rIns="0" bIns="0" rtlCol="0" anchor="ctr"/>
          <a:lstStyle/>
          <a:p>
            <a:pPr indent="0" marL="0">
              <a:buNone/>
            </a:pPr>
            <a:r>
              <a:rPr lang="en-US" sz="1600" b="1" dirty="0">
                <a:solidFill>
                  <a:srgbClr val="23272E"/>
                </a:solidFill>
                <a:latin typeface="Cambria" pitchFamily="34" charset="0"/>
                <a:ea typeface="Cambria" pitchFamily="34" charset="-122"/>
                <a:cs typeface="Cambria" pitchFamily="34" charset="-120"/>
              </a:rPr>
              <a:t>Then hardware</a:t>
            </a:r>
            <a:endParaRPr lang="en-US" sz="1600" dirty="0"/>
          </a:p>
        </p:txBody>
      </p:sp>
      <p:sp>
        <p:nvSpPr>
          <p:cNvPr id="28" name="Text 26"/>
          <p:cNvSpPr txBox="1"/>
          <p:nvPr/>
        </p:nvSpPr>
        <p:spPr>
          <a:xfrm>
            <a:off x="9710928" y="3474720"/>
            <a:ext cx="1591056" cy="82296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for the residue software</a:t>
            </a:r>
            <a:endParaRPr lang="en-US" sz="1150" dirty="0"/>
          </a:p>
          <a:p>
            <a:pPr indent="0" marL="0">
              <a:buNone/>
            </a:pPr>
            <a:r>
              <a:rPr lang="en-US" sz="1150" dirty="0">
                <a:solidFill>
                  <a:srgbClr val="6B7280"/>
                </a:solidFill>
                <a:latin typeface="Calibri" pitchFamily="34" charset="0"/>
                <a:ea typeface="Calibri" pitchFamily="34" charset="-122"/>
                <a:cs typeface="Calibri" pitchFamily="34" charset="-120"/>
              </a:rPr>
              <a:t>cannot remove</a:t>
            </a:r>
            <a:endParaRPr lang="en-US" sz="1150" dirty="0"/>
          </a:p>
        </p:txBody>
      </p:sp>
      <p:sp>
        <p:nvSpPr>
          <p:cNvPr id="29" name="Text 27"/>
          <p:cNvSpPr txBox="1"/>
          <p:nvPr/>
        </p:nvSpPr>
        <p:spPr>
          <a:xfrm>
            <a:off x="594360" y="4892040"/>
            <a:ext cx="10881360" cy="548640"/>
          </a:xfrm>
          <a:prstGeom prst="rect">
            <a:avLst/>
          </a:prstGeom>
          <a:noFill/>
          <a:ln/>
        </p:spPr>
        <p:txBody>
          <a:bodyPr wrap="square" lIns="0" tIns="0" rIns="0" bIns="0" rtlCol="0" anchor="ctr"/>
          <a:lstStyle/>
          <a:p>
            <a:pPr indent="0" marL="0">
              <a:buNone/>
            </a:pPr>
            <a:r>
              <a:rPr lang="en-US" sz="1400" dirty="0">
                <a:solidFill>
                  <a:srgbClr val="23272E"/>
                </a:solidFill>
                <a:latin typeface="Calibri" pitchFamily="34" charset="0"/>
                <a:ea typeface="Calibri" pitchFamily="34" charset="-122"/>
                <a:cs typeface="Calibri" pitchFamily="34" charset="-120"/>
              </a:rPr>
              <a:t>The order matters. We only argue for silicon after software has taken everything it can — Lecture 1 is explicit that accelerators are not always the answer.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MEASUREMENT SETUP</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Everything measured inside the course VM</a:t>
            </a:r>
            <a:endParaRPr lang="en-US" sz="3200" dirty="0"/>
          </a:p>
        </p:txBody>
      </p:sp>
      <p:sp>
        <p:nvSpPr>
          <p:cNvPr id="4" name="Shape 2"/>
          <p:cNvSpPr/>
          <p:nvPr/>
        </p:nvSpPr>
        <p:spPr>
          <a:xfrm>
            <a:off x="594360" y="1508760"/>
            <a:ext cx="5257800" cy="1965960"/>
          </a:xfrm>
          <a:prstGeom prst="roundRect">
            <a:avLst>
              <a:gd name="adj" fmla="val 2791"/>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5" name="Text 3"/>
          <p:cNvSpPr txBox="1"/>
          <p:nvPr/>
        </p:nvSpPr>
        <p:spPr>
          <a:xfrm>
            <a:off x="868680" y="1737360"/>
            <a:ext cx="4709160" cy="1554480"/>
          </a:xfrm>
          <a:prstGeom prst="rect">
            <a:avLst/>
          </a:prstGeom>
          <a:noFill/>
          <a:ln/>
        </p:spPr>
        <p:txBody>
          <a:bodyPr wrap="square" lIns="0" tIns="0" rIns="0" bIns="0" rtlCol="0" anchor="ctr"/>
          <a:lstStyle/>
          <a:p>
            <a:pPr indent="0" marL="0">
              <a:lnSpc>
                <a:spcPct val="115000"/>
              </a:lnSpc>
              <a:buNone/>
            </a:pPr>
            <a:r>
              <a:rPr lang="en-US" sz="1250" dirty="0">
                <a:solidFill>
                  <a:srgbClr val="23272E"/>
                </a:solidFill>
                <a:latin typeface="Calibri" pitchFamily="34" charset="0"/>
                <a:ea typeface="Calibri" pitchFamily="34" charset="-122"/>
                <a:cs typeface="Calibri" pitchFamily="34" charset="-120"/>
              </a:rPr>
              <a:t>Ubuntu 22.04.5 guest, kernel 5.15.0-1080-kvm</a:t>
            </a:r>
            <a:endParaRPr lang="en-US" sz="1250" dirty="0"/>
          </a:p>
          <a:p>
            <a:pPr indent="0" marL="0">
              <a:lnSpc>
                <a:spcPct val="115000"/>
              </a:lnSpc>
              <a:buNone/>
            </a:pPr>
            <a:r>
              <a:rPr lang="en-US" sz="1250" dirty="0">
                <a:solidFill>
                  <a:srgbClr val="23272E"/>
                </a:solidFill>
                <a:latin typeface="Calibri" pitchFamily="34" charset="0"/>
                <a:ea typeface="Calibri" pitchFamily="34" charset="-122"/>
                <a:cs typeface="Calibri" pitchFamily="34" charset="-120"/>
              </a:rPr>
              <a:t>Python 3.10.12 debug build (python3-dbg)</a:t>
            </a:r>
            <a:endParaRPr lang="en-US" sz="1250" dirty="0"/>
          </a:p>
          <a:p>
            <a:pPr indent="0" marL="0">
              <a:lnSpc>
                <a:spcPct val="115000"/>
              </a:lnSpc>
              <a:buNone/>
            </a:pPr>
            <a:r>
              <a:rPr lang="en-US" sz="1250" dirty="0">
                <a:solidFill>
                  <a:srgbClr val="23272E"/>
                </a:solidFill>
                <a:latin typeface="Calibri" pitchFamily="34" charset="0"/>
                <a:ea typeface="Calibri" pitchFamily="34" charset="-122"/>
                <a:cs typeface="Calibri" pitchFamily="34" charset="-120"/>
              </a:rPr>
              <a:t>perf 5.15.179 · pyperf 2.10.0 · iverilog 11.0</a:t>
            </a:r>
            <a:endParaRPr lang="en-US" sz="1250" dirty="0"/>
          </a:p>
          <a:p>
            <a:pPr indent="0" marL="0">
              <a:lnSpc>
                <a:spcPct val="115000"/>
              </a:lnSpc>
              <a:buNone/>
            </a:pPr>
            <a:r>
              <a:rPr lang="en-US" sz="1250" dirty="0">
                <a:solidFill>
                  <a:srgbClr val="23272E"/>
                </a:solidFill>
                <a:latin typeface="Calibri" pitchFamily="34" charset="0"/>
                <a:ea typeface="Calibri" pitchFamily="34" charset="-122"/>
                <a:cs typeface="Calibri" pitchFamily="34" charset="-120"/>
              </a:rPr>
              <a:t>Xeon E5-2630 v3 @ 2.40 GHz, 8 vCPU, QEMU/KVM</a:t>
            </a:r>
            <a:endParaRPr lang="en-US" sz="1250" dirty="0"/>
          </a:p>
        </p:txBody>
      </p:sp>
      <p:sp>
        <p:nvSpPr>
          <p:cNvPr id="6" name="Shape 4"/>
          <p:cNvSpPr/>
          <p:nvPr/>
        </p:nvSpPr>
        <p:spPr>
          <a:xfrm>
            <a:off x="6309360" y="1508760"/>
            <a:ext cx="5257800" cy="1965960"/>
          </a:xfrm>
          <a:prstGeom prst="roundRect">
            <a:avLst>
              <a:gd name="adj" fmla="val 2791"/>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7" name="Text 5"/>
          <p:cNvSpPr txBox="1"/>
          <p:nvPr/>
        </p:nvSpPr>
        <p:spPr>
          <a:xfrm>
            <a:off x="6583680" y="1719072"/>
            <a:ext cx="4709160" cy="320040"/>
          </a:xfrm>
          <a:prstGeom prst="rect">
            <a:avLst/>
          </a:prstGeom>
          <a:noFill/>
          <a:ln/>
        </p:spPr>
        <p:txBody>
          <a:bodyPr wrap="square" lIns="0" tIns="0" rIns="0" bIns="0" rtlCol="0" anchor="ctr"/>
          <a:lstStyle/>
          <a:p>
            <a:pPr indent="0" marL="0">
              <a:buNone/>
            </a:pPr>
            <a:r>
              <a:rPr lang="en-US" sz="1500" b="1" dirty="0">
                <a:solidFill>
                  <a:srgbClr val="23272E"/>
                </a:solidFill>
                <a:latin typeface="Cambria" pitchFamily="34" charset="0"/>
                <a:ea typeface="Cambria" pitchFamily="34" charset="-122"/>
                <a:cs typeface="Cambria" pitchFamily="34" charset="-120"/>
              </a:rPr>
              <a:t>Correctness gates every number</a:t>
            </a:r>
            <a:endParaRPr lang="en-US" sz="1500" dirty="0"/>
          </a:p>
        </p:txBody>
      </p:sp>
      <p:sp>
        <p:nvSpPr>
          <p:cNvPr id="8" name="Text 6"/>
          <p:cNvSpPr txBox="1"/>
          <p:nvPr/>
        </p:nvSpPr>
        <p:spPr>
          <a:xfrm>
            <a:off x="6583680" y="2103120"/>
            <a:ext cx="4709160" cy="1280160"/>
          </a:xfrm>
          <a:prstGeom prst="rect">
            <a:avLst/>
          </a:prstGeom>
          <a:noFill/>
          <a:ln/>
        </p:spPr>
        <p:txBody>
          <a:bodyPr wrap="square" lIns="0" tIns="0" rIns="0" bIns="0" rtlCol="0" anchor="ctr"/>
          <a:lstStyle/>
          <a:p>
            <a:pPr indent="0" marL="0">
              <a:lnSpc>
                <a:spcPct val="115000"/>
              </a:lnSpc>
              <a:buNone/>
            </a:pPr>
            <a:r>
              <a:rPr lang="en-US" sz="1250" dirty="0">
                <a:solidFill>
                  <a:srgbClr val="23272E"/>
                </a:solidFill>
                <a:latin typeface="Calibri" pitchFamily="34" charset="0"/>
                <a:ea typeface="Calibri" pitchFamily="34" charset="-122"/>
                <a:cs typeface="Calibri" pitchFamily="34" charset="-120"/>
              </a:rPr>
              <a:t>raytrace — rendered image must be byte-identical (sha256)</a:t>
            </a:r>
            <a:endParaRPr lang="en-US" sz="1250" dirty="0"/>
          </a:p>
          <a:p>
            <a:pPr indent="0" marL="0">
              <a:lnSpc>
                <a:spcPct val="115000"/>
              </a:lnSpc>
              <a:buNone/>
            </a:pPr>
            <a:r>
              <a:rPr lang="en-US" sz="1250" dirty="0">
                <a:solidFill>
                  <a:srgbClr val="23272E"/>
                </a:solidFill>
                <a:latin typeface="Calibri" pitchFamily="34" charset="0"/>
                <a:ea typeface="Calibri" pitchFamily="34" charset="-122"/>
                <a:cs typeface="Calibri" pitchFamily="34" charset="-120"/>
              </a:rPr>
              <a:t>pyflate — the benchmark's own md5 assertion must pass</a:t>
            </a:r>
            <a:endParaRPr lang="en-US" sz="1250" dirty="0"/>
          </a:p>
          <a:p>
            <a:pPr indent="0" marL="0">
              <a:lnSpc>
                <a:spcPct val="115000"/>
              </a:lnSpc>
              <a:buNone/>
            </a:pPr>
            <a:endParaRPr lang="en-US" sz="1250" dirty="0"/>
          </a:p>
          <a:p>
            <a:pPr indent="0" marL="0">
              <a:lnSpc>
                <a:spcPct val="115000"/>
              </a:lnSpc>
              <a:buNone/>
            </a:pPr>
            <a:r>
              <a:rPr lang="en-US" sz="1250" dirty="0">
                <a:solidFill>
                  <a:srgbClr val="23272E"/>
                </a:solidFill>
                <a:latin typeface="Calibri" pitchFamily="34" charset="0"/>
                <a:ea typeface="Calibri" pitchFamily="34" charset="-122"/>
                <a:cs typeface="Calibri" pitchFamily="34" charset="-120"/>
              </a:rPr>
              <a:t>Every script refuses to print a speedup if this fails.</a:t>
            </a:r>
            <a:endParaRPr lang="en-US" sz="1250" dirty="0"/>
          </a:p>
        </p:txBody>
      </p:sp>
      <p:sp>
        <p:nvSpPr>
          <p:cNvPr id="9" name="Text 7"/>
          <p:cNvSpPr txBox="1"/>
          <p:nvPr/>
        </p:nvSpPr>
        <p:spPr>
          <a:xfrm>
            <a:off x="594360" y="3749040"/>
            <a:ext cx="10881360" cy="365760"/>
          </a:xfrm>
          <a:prstGeom prst="rect">
            <a:avLst/>
          </a:prstGeom>
          <a:noFill/>
          <a:ln/>
        </p:spPr>
        <p:txBody>
          <a:bodyPr wrap="square" lIns="0" tIns="0" rIns="0" bIns="0" rtlCol="0" anchor="ctr"/>
          <a:lstStyle/>
          <a:p>
            <a:pPr indent="0" marL="0">
              <a:buNone/>
            </a:pPr>
            <a:r>
              <a:rPr lang="en-US" sz="1900" b="1" dirty="0">
                <a:solidFill>
                  <a:srgbClr val="23272E"/>
                </a:solidFill>
                <a:latin typeface="Cambria" pitchFamily="34" charset="0"/>
                <a:ea typeface="Cambria" pitchFamily="34" charset="-122"/>
                <a:cs typeface="Cambria" pitchFamily="34" charset="-120"/>
              </a:rPr>
              <a:t>Three ways the tools quietly lied to us</a:t>
            </a:r>
            <a:endParaRPr lang="en-US" sz="1900" dirty="0"/>
          </a:p>
        </p:txBody>
      </p:sp>
      <p:sp>
        <p:nvSpPr>
          <p:cNvPr id="10" name="Shape 8"/>
          <p:cNvSpPr/>
          <p:nvPr/>
        </p:nvSpPr>
        <p:spPr>
          <a:xfrm>
            <a:off x="594360" y="4206240"/>
            <a:ext cx="3566160" cy="1783080"/>
          </a:xfrm>
          <a:prstGeom prst="roundRect">
            <a:avLst>
              <a:gd name="adj" fmla="val 3077"/>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1" name="Text 9"/>
          <p:cNvSpPr txBox="1"/>
          <p:nvPr/>
        </p:nvSpPr>
        <p:spPr>
          <a:xfrm>
            <a:off x="822960" y="4389120"/>
            <a:ext cx="3108960" cy="292608"/>
          </a:xfrm>
          <a:prstGeom prst="rect">
            <a:avLst/>
          </a:prstGeom>
          <a:noFill/>
          <a:ln/>
        </p:spPr>
        <p:txBody>
          <a:bodyPr wrap="square" lIns="0" tIns="0" rIns="0" bIns="0" rtlCol="0" anchor="ctr"/>
          <a:lstStyle/>
          <a:p>
            <a:pPr indent="0" marL="0">
              <a:buNone/>
            </a:pPr>
            <a:r>
              <a:rPr lang="en-US" sz="1400" b="1" dirty="0">
                <a:solidFill>
                  <a:srgbClr val="E8552D"/>
                </a:solidFill>
                <a:latin typeface="Cambria" pitchFamily="34" charset="0"/>
                <a:ea typeface="Cambria" pitchFamily="34" charset="-122"/>
                <a:cs typeface="Cambria" pitchFamily="34" charset="-120"/>
              </a:rPr>
              <a:t>PEBS isn't virtualized</a:t>
            </a:r>
            <a:endParaRPr lang="en-US" sz="1400" dirty="0"/>
          </a:p>
        </p:txBody>
      </p:sp>
      <p:sp>
        <p:nvSpPr>
          <p:cNvPr id="12" name="Text 10"/>
          <p:cNvSpPr txBox="1"/>
          <p:nvPr/>
        </p:nvSpPr>
        <p:spPr>
          <a:xfrm>
            <a:off x="822960" y="4709160"/>
            <a:ext cx="3108960" cy="11887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perf record defaults to cycles:ppp, a precise event. In a KVM guest it captured almost nothing — 579-byte flame graphs. Fixed by sampling cpu-clock.</a:t>
            </a:r>
            <a:endParaRPr lang="en-US" sz="1050" dirty="0"/>
          </a:p>
        </p:txBody>
      </p:sp>
      <p:sp>
        <p:nvSpPr>
          <p:cNvPr id="13" name="Shape 11"/>
          <p:cNvSpPr/>
          <p:nvPr/>
        </p:nvSpPr>
        <p:spPr>
          <a:xfrm>
            <a:off x="4251960" y="4206240"/>
            <a:ext cx="3566160" cy="1783080"/>
          </a:xfrm>
          <a:prstGeom prst="roundRect">
            <a:avLst>
              <a:gd name="adj" fmla="val 3077"/>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4" name="Text 12"/>
          <p:cNvSpPr txBox="1"/>
          <p:nvPr/>
        </p:nvSpPr>
        <p:spPr>
          <a:xfrm>
            <a:off x="4480560" y="4389120"/>
            <a:ext cx="3108960" cy="292608"/>
          </a:xfrm>
          <a:prstGeom prst="rect">
            <a:avLst/>
          </a:prstGeom>
          <a:noFill/>
          <a:ln/>
        </p:spPr>
        <p:txBody>
          <a:bodyPr wrap="square" lIns="0" tIns="0" rIns="0" bIns="0" rtlCol="0" anchor="ctr"/>
          <a:lstStyle/>
          <a:p>
            <a:pPr indent="0" marL="0">
              <a:buNone/>
            </a:pPr>
            <a:r>
              <a:rPr lang="en-US" sz="1400" b="1" dirty="0">
                <a:solidFill>
                  <a:srgbClr val="E8552D"/>
                </a:solidFill>
                <a:latin typeface="Cambria" pitchFamily="34" charset="0"/>
                <a:ea typeface="Cambria" pitchFamily="34" charset="-122"/>
                <a:cs typeface="Cambria" pitchFamily="34" charset="-120"/>
              </a:rPr>
              <a:t>Counter multiplexing</a:t>
            </a:r>
            <a:endParaRPr lang="en-US" sz="1400" dirty="0"/>
          </a:p>
        </p:txBody>
      </p:sp>
      <p:sp>
        <p:nvSpPr>
          <p:cNvPr id="15" name="Text 13"/>
          <p:cNvSpPr txBox="1"/>
          <p:nvPr/>
        </p:nvSpPr>
        <p:spPr>
          <a:xfrm>
            <a:off x="4480560" y="4709160"/>
            <a:ext cx="3108960" cy="11887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The guest vPMU has only 4 generic counters. Asking for 6 hardware events reported cycles = 0. IPC needs its own 2-event run.</a:t>
            </a:r>
            <a:endParaRPr lang="en-US" sz="1050" dirty="0"/>
          </a:p>
        </p:txBody>
      </p:sp>
      <p:sp>
        <p:nvSpPr>
          <p:cNvPr id="16" name="Shape 14"/>
          <p:cNvSpPr/>
          <p:nvPr/>
        </p:nvSpPr>
        <p:spPr>
          <a:xfrm>
            <a:off x="7909560" y="4206240"/>
            <a:ext cx="3566160" cy="1783080"/>
          </a:xfrm>
          <a:prstGeom prst="roundRect">
            <a:avLst>
              <a:gd name="adj" fmla="val 3077"/>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7" name="Text 15"/>
          <p:cNvSpPr txBox="1"/>
          <p:nvPr/>
        </p:nvSpPr>
        <p:spPr>
          <a:xfrm>
            <a:off x="8138160" y="4389120"/>
            <a:ext cx="3108960" cy="292608"/>
          </a:xfrm>
          <a:prstGeom prst="rect">
            <a:avLst/>
          </a:prstGeom>
          <a:noFill/>
          <a:ln/>
        </p:spPr>
        <p:txBody>
          <a:bodyPr wrap="square" lIns="0" tIns="0" rIns="0" bIns="0" rtlCol="0" anchor="ctr"/>
          <a:lstStyle/>
          <a:p>
            <a:pPr indent="0" marL="0">
              <a:buNone/>
            </a:pPr>
            <a:r>
              <a:rPr lang="en-US" sz="1400" b="1" dirty="0">
                <a:solidFill>
                  <a:srgbClr val="E8552D"/>
                </a:solidFill>
                <a:latin typeface="Cambria" pitchFamily="34" charset="0"/>
                <a:ea typeface="Cambria" pitchFamily="34" charset="-122"/>
                <a:cs typeface="Cambria" pitchFamily="34" charset="-120"/>
              </a:rPr>
              <a:t>pyperf won't overwrite</a:t>
            </a:r>
            <a:endParaRPr lang="en-US" sz="1400" dirty="0"/>
          </a:p>
        </p:txBody>
      </p:sp>
      <p:sp>
        <p:nvSpPr>
          <p:cNvPr id="18" name="Text 16"/>
          <p:cNvSpPr txBox="1"/>
          <p:nvPr/>
        </p:nvSpPr>
        <p:spPr>
          <a:xfrm>
            <a:off x="8138160" y="4709160"/>
            <a:ext cx="3108960" cy="11887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On a re-run it skipped the measurement and compare_to reported the PREVIOUS run's numbers.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BENCHMARK 1 — ANALYSIS</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raytrace: what the machine is actually doing</a:t>
            </a:r>
            <a:endParaRPr lang="en-US" sz="3200" dirty="0"/>
          </a:p>
        </p:txBody>
      </p:sp>
      <p:sp>
        <p:nvSpPr>
          <p:cNvPr id="4" name="Text 2"/>
          <p:cNvSpPr txBox="1"/>
          <p:nvPr/>
        </p:nvSpPr>
        <p:spPr>
          <a:xfrm>
            <a:off x="594360" y="1554480"/>
            <a:ext cx="2377440" cy="658368"/>
          </a:xfrm>
          <a:prstGeom prst="rect">
            <a:avLst/>
          </a:prstGeom>
          <a:noFill/>
          <a:ln/>
        </p:spPr>
        <p:txBody>
          <a:bodyPr wrap="square" lIns="0" tIns="0" rIns="0" bIns="0" rtlCol="0" anchor="ctr"/>
          <a:lstStyle/>
          <a:p>
            <a:pPr indent="0" marL="0">
              <a:buNone/>
            </a:pPr>
            <a:r>
              <a:rPr lang="en-US" sz="4000" b="1" dirty="0">
                <a:solidFill>
                  <a:srgbClr val="E8552D"/>
                </a:solidFill>
                <a:latin typeface="Cambria" pitchFamily="34" charset="0"/>
                <a:ea typeface="Cambria" pitchFamily="34" charset="-122"/>
                <a:cs typeface="Cambria" pitchFamily="34" charset="-120"/>
              </a:rPr>
              <a:t>15,333</a:t>
            </a:r>
            <a:endParaRPr lang="en-US" sz="4000" dirty="0"/>
          </a:p>
        </p:txBody>
      </p:sp>
      <p:sp>
        <p:nvSpPr>
          <p:cNvPr id="5" name="Text 3"/>
          <p:cNvSpPr txBox="1"/>
          <p:nvPr/>
        </p:nvSpPr>
        <p:spPr>
          <a:xfrm>
            <a:off x="594360" y="2194560"/>
            <a:ext cx="237744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rays cast per frame</a:t>
            </a:r>
            <a:endParaRPr lang="en-US" sz="1200" dirty="0"/>
          </a:p>
        </p:txBody>
      </p:sp>
      <p:sp>
        <p:nvSpPr>
          <p:cNvPr id="6" name="Text 4"/>
          <p:cNvSpPr txBox="1"/>
          <p:nvPr/>
        </p:nvSpPr>
        <p:spPr>
          <a:xfrm>
            <a:off x="3246120" y="1554480"/>
            <a:ext cx="2651760" cy="658368"/>
          </a:xfrm>
          <a:prstGeom prst="rect">
            <a:avLst/>
          </a:prstGeom>
          <a:noFill/>
          <a:ln/>
        </p:spPr>
        <p:txBody>
          <a:bodyPr wrap="square" lIns="0" tIns="0" rIns="0" bIns="0" rtlCol="0" anchor="ctr"/>
          <a:lstStyle/>
          <a:p>
            <a:pPr indent="0" marL="0">
              <a:buNone/>
            </a:pPr>
            <a:r>
              <a:rPr lang="en-US" sz="4000" b="1" dirty="0">
                <a:solidFill>
                  <a:srgbClr val="E8552D"/>
                </a:solidFill>
                <a:latin typeface="Cambria" pitchFamily="34" charset="0"/>
                <a:ea typeface="Cambria" pitchFamily="34" charset="-122"/>
                <a:cs typeface="Cambria" pitchFamily="34" charset="-120"/>
              </a:rPr>
              <a:t>204,958</a:t>
            </a:r>
            <a:endParaRPr lang="en-US" sz="4000" dirty="0"/>
          </a:p>
        </p:txBody>
      </p:sp>
      <p:sp>
        <p:nvSpPr>
          <p:cNvPr id="7" name="Text 5"/>
          <p:cNvSpPr txBox="1"/>
          <p:nvPr/>
        </p:nvSpPr>
        <p:spPr>
          <a:xfrm>
            <a:off x="3246120" y="2194560"/>
            <a:ext cx="265176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intersection tests / frame</a:t>
            </a:r>
            <a:endParaRPr lang="en-US" sz="1200" dirty="0"/>
          </a:p>
        </p:txBody>
      </p:sp>
      <p:sp>
        <p:nvSpPr>
          <p:cNvPr id="8" name="Text 6"/>
          <p:cNvSpPr txBox="1"/>
          <p:nvPr/>
        </p:nvSpPr>
        <p:spPr>
          <a:xfrm>
            <a:off x="6080760" y="1554480"/>
            <a:ext cx="2377440" cy="658368"/>
          </a:xfrm>
          <a:prstGeom prst="rect">
            <a:avLst/>
          </a:prstGeom>
          <a:noFill/>
          <a:ln/>
        </p:spPr>
        <p:txBody>
          <a:bodyPr wrap="square" lIns="0" tIns="0" rIns="0" bIns="0" rtlCol="0" anchor="ctr"/>
          <a:lstStyle/>
          <a:p>
            <a:pPr indent="0" marL="0">
              <a:buNone/>
            </a:pPr>
            <a:r>
              <a:rPr lang="en-US" sz="4000" b="1" dirty="0">
                <a:solidFill>
                  <a:srgbClr val="E8552D"/>
                </a:solidFill>
                <a:latin typeface="Cambria" pitchFamily="34" charset="0"/>
                <a:ea typeface="Cambria" pitchFamily="34" charset="-122"/>
                <a:cs typeface="Cambria" pitchFamily="34" charset="-120"/>
              </a:rPr>
              <a:t>11.7</a:t>
            </a:r>
            <a:endParaRPr lang="en-US" sz="4000" dirty="0"/>
          </a:p>
        </p:txBody>
      </p:sp>
      <p:sp>
        <p:nvSpPr>
          <p:cNvPr id="9" name="Text 7"/>
          <p:cNvSpPr txBox="1"/>
          <p:nvPr/>
        </p:nvSpPr>
        <p:spPr>
          <a:xfrm>
            <a:off x="6080760" y="2194560"/>
            <a:ext cx="237744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sphere tests per ray</a:t>
            </a:r>
            <a:endParaRPr lang="en-US" sz="1200" dirty="0"/>
          </a:p>
        </p:txBody>
      </p:sp>
      <p:sp>
        <p:nvSpPr>
          <p:cNvPr id="10" name="Text 8"/>
          <p:cNvSpPr txBox="1"/>
          <p:nvPr/>
        </p:nvSpPr>
        <p:spPr>
          <a:xfrm>
            <a:off x="8823960" y="1554480"/>
            <a:ext cx="2377440" cy="658368"/>
          </a:xfrm>
          <a:prstGeom prst="rect">
            <a:avLst/>
          </a:prstGeom>
          <a:noFill/>
          <a:ln/>
        </p:spPr>
        <p:txBody>
          <a:bodyPr wrap="square" lIns="0" tIns="0" rIns="0" bIns="0" rtlCol="0" anchor="ctr"/>
          <a:lstStyle/>
          <a:p>
            <a:pPr indent="0" marL="0">
              <a:buNone/>
            </a:pPr>
            <a:r>
              <a:rPr lang="en-US" sz="4000" b="1" dirty="0">
                <a:solidFill>
                  <a:srgbClr val="2D9596"/>
                </a:solidFill>
                <a:latin typeface="Cambria" pitchFamily="34" charset="0"/>
                <a:ea typeface="Cambria" pitchFamily="34" charset="-122"/>
                <a:cs typeface="Cambria" pitchFamily="34" charset="-120"/>
              </a:rPr>
              <a:t>2.07</a:t>
            </a:r>
            <a:endParaRPr lang="en-US" sz="4000" dirty="0"/>
          </a:p>
        </p:txBody>
      </p:sp>
      <p:sp>
        <p:nvSpPr>
          <p:cNvPr id="11" name="Text 9"/>
          <p:cNvSpPr txBox="1"/>
          <p:nvPr/>
        </p:nvSpPr>
        <p:spPr>
          <a:xfrm>
            <a:off x="8823960" y="2194560"/>
            <a:ext cx="237744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instructions per cycle</a:t>
            </a:r>
            <a:endParaRPr lang="en-US" sz="1200" dirty="0"/>
          </a:p>
        </p:txBody>
      </p:sp>
      <p:sp>
        <p:nvSpPr>
          <p:cNvPr id="12" name="Shape 10"/>
          <p:cNvSpPr/>
          <p:nvPr/>
        </p:nvSpPr>
        <p:spPr>
          <a:xfrm>
            <a:off x="594360" y="3063240"/>
            <a:ext cx="10927080" cy="1371600"/>
          </a:xfrm>
          <a:prstGeom prst="roundRect">
            <a:avLst>
              <a:gd name="adj" fmla="val 4000"/>
            </a:avLst>
          </a:prstGeom>
          <a:solidFill>
            <a:srgbClr val="FDF1EC"/>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3" name="Text 11"/>
          <p:cNvSpPr txBox="1"/>
          <p:nvPr/>
        </p:nvSpPr>
        <p:spPr>
          <a:xfrm>
            <a:off x="914400" y="3246120"/>
            <a:ext cx="10241280" cy="320040"/>
          </a:xfrm>
          <a:prstGeom prst="rect">
            <a:avLst/>
          </a:prstGeom>
          <a:noFill/>
          <a:ln/>
        </p:spPr>
        <p:txBody>
          <a:bodyPr wrap="square" lIns="0" tIns="0" rIns="0" bIns="0" rtlCol="0" anchor="ctr"/>
          <a:lstStyle/>
          <a:p>
            <a:pPr indent="0" marL="0">
              <a:buNone/>
            </a:pPr>
            <a:r>
              <a:rPr lang="en-US" sz="1700" b="1" dirty="0">
                <a:solidFill>
                  <a:srgbClr val="23272E"/>
                </a:solidFill>
                <a:latin typeface="Cambria" pitchFamily="34" charset="0"/>
                <a:ea typeface="Cambria" pitchFamily="34" charset="-122"/>
                <a:cs typeface="Cambria" pitchFamily="34" charset="-120"/>
              </a:rPr>
              <a:t>The counters say the CPU is not stalling.</a:t>
            </a:r>
            <a:endParaRPr lang="en-US" sz="1700" dirty="0"/>
          </a:p>
        </p:txBody>
      </p:sp>
      <p:sp>
        <p:nvSpPr>
          <p:cNvPr id="14" name="Text 12"/>
          <p:cNvSpPr txBox="1"/>
          <p:nvPr/>
        </p:nvSpPr>
        <p:spPr>
          <a:xfrm>
            <a:off x="914400" y="3611880"/>
            <a:ext cx="10241280" cy="731520"/>
          </a:xfrm>
          <a:prstGeom prst="rect">
            <a:avLst/>
          </a:prstGeom>
          <a:noFill/>
          <a:ln/>
        </p:spPr>
        <p:txBody>
          <a:bodyPr wrap="square" lIns="0" tIns="0" rIns="0" bIns="0" rtlCol="0" anchor="ctr"/>
          <a:lstStyle/>
          <a:p>
            <a:pPr indent="0" marL="0">
              <a:lnSpc>
                <a:spcPct val="115000"/>
              </a:lnSpc>
              <a:buNone/>
            </a:pPr>
            <a:r>
              <a:rPr lang="en-US" sz="1350" dirty="0">
                <a:solidFill>
                  <a:srgbClr val="23272E"/>
                </a:solidFill>
                <a:latin typeface="Calibri" pitchFamily="34" charset="0"/>
                <a:ea typeface="Calibri" pitchFamily="34" charset="-122"/>
                <a:cs typeface="Calibri" pitchFamily="34" charset="-120"/>
              </a:rPr>
              <a:t>IPC 2.07, branch-miss rate 0.89 %, cache-miss rate 0.45 %. Not memory-bound, not branch-bound, not I/O-bound. The machine is simply being asked to retire 53.3 billion instructions. So the target is instruction VOLUME, not locality.</a:t>
            </a:r>
            <a:endParaRPr lang="en-US" sz="1350" dirty="0"/>
          </a:p>
        </p:txBody>
      </p:sp>
      <p:sp>
        <p:nvSpPr>
          <p:cNvPr id="15" name="Text 13"/>
          <p:cNvSpPr txBox="1"/>
          <p:nvPr/>
        </p:nvSpPr>
        <p:spPr>
          <a:xfrm>
            <a:off x="594360" y="4709160"/>
            <a:ext cx="10881360" cy="320040"/>
          </a:xfrm>
          <a:prstGeom prst="rect">
            <a:avLst/>
          </a:prstGeom>
          <a:noFill/>
          <a:ln/>
        </p:spPr>
        <p:txBody>
          <a:bodyPr wrap="square" lIns="0" tIns="0" rIns="0" bIns="0" rtlCol="0" anchor="ctr"/>
          <a:lstStyle/>
          <a:p>
            <a:pPr indent="0" marL="0">
              <a:buNone/>
            </a:pPr>
            <a:r>
              <a:rPr lang="en-US" sz="1400" b="1" dirty="0">
                <a:solidFill>
                  <a:srgbClr val="23272E"/>
                </a:solidFill>
                <a:latin typeface="Calibri" pitchFamily="34" charset="0"/>
                <a:ea typeface="Calibri" pitchFamily="34" charset="-122"/>
                <a:cs typeface="Calibri" pitchFamily="34" charset="-120"/>
              </a:rPr>
              <a:t>perf's answer: 28.1 % of samples in _PyEval_EvalFrameDefault — CPython's bytecode dispatch loop.</a:t>
            </a:r>
            <a:endParaRPr lang="en-US" sz="1400" dirty="0"/>
          </a:p>
        </p:txBody>
      </p:sp>
      <p:sp>
        <p:nvSpPr>
          <p:cNvPr id="16" name="Text 14"/>
          <p:cNvSpPr txBox="1"/>
          <p:nvPr/>
        </p:nvSpPr>
        <p:spPr>
          <a:xfrm>
            <a:off x="594360" y="5029200"/>
            <a:ext cx="10881360" cy="7315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True, and useless on its own: every Python function executes inside that one C function, so perf can never name the Python function responsible. That is why we also ran cProfile — the flame-graph-plus-second-view pairing Lecture 4 recommends.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3"/>
        </a:solidFill>
      </p:bgPr>
    </p:bg>
    <p:spTree>
      <p:nvGrpSpPr>
        <p:cNvPr id="1" name=""/>
        <p:cNvGrpSpPr/>
        <p:nvPr/>
      </p:nvGrpSpPr>
      <p:grpSpPr>
        <a:xfrm>
          <a:off x="0" y="0"/>
          <a:ext cx="0" cy="0"/>
          <a:chOff x="0" y="0"/>
          <a:chExt cx="0" cy="0"/>
        </a:xfrm>
      </p:grpSpPr>
      <p:sp>
        <p:nvSpPr>
          <p:cNvPr id="2" name="Text 0"/>
          <p:cNvSpPr txBox="1"/>
          <p:nvPr/>
        </p:nvSpPr>
        <p:spPr>
          <a:xfrm>
            <a:off x="594360" y="685800"/>
            <a:ext cx="7315200" cy="457200"/>
          </a:xfrm>
          <a:prstGeom prst="rect">
            <a:avLst/>
          </a:prstGeom>
          <a:noFill/>
          <a:ln/>
        </p:spPr>
        <p:txBody>
          <a:bodyPr wrap="square" lIns="0" tIns="0" rIns="0" bIns="0" rtlCol="0" anchor="ctr"/>
          <a:lstStyle/>
          <a:p>
            <a:pPr indent="0" marL="0">
              <a:buNone/>
            </a:pPr>
            <a:r>
              <a:rPr lang="en-US" sz="1200" b="1" spc="200" kern="0" dirty="0">
                <a:solidFill>
                  <a:srgbClr val="E8552D"/>
                </a:solidFill>
                <a:latin typeface="Calibri" pitchFamily="34" charset="0"/>
                <a:ea typeface="Calibri" pitchFamily="34" charset="-122"/>
                <a:cs typeface="Calibri" pitchFamily="34" charset="-120"/>
              </a:rPr>
              <a:t>The smoking gun</a:t>
            </a:r>
            <a:endParaRPr lang="en-US" sz="1200" dirty="0"/>
          </a:p>
        </p:txBody>
      </p:sp>
      <p:sp>
        <p:nvSpPr>
          <p:cNvPr id="3" name="Text 1"/>
          <p:cNvSpPr txBox="1"/>
          <p:nvPr/>
        </p:nvSpPr>
        <p:spPr>
          <a:xfrm>
            <a:off x="594360" y="1234440"/>
            <a:ext cx="6766560" cy="1371600"/>
          </a:xfrm>
          <a:prstGeom prst="rect">
            <a:avLst/>
          </a:prstGeom>
          <a:noFill/>
          <a:ln/>
        </p:spPr>
        <p:txBody>
          <a:bodyPr wrap="square" lIns="0" tIns="0" rIns="0" bIns="0" rtlCol="0" anchor="ctr"/>
          <a:lstStyle/>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3.7 % of the entire runtime</a:t>
            </a:r>
            <a:endParaRPr lang="en-US" sz="3200" dirty="0"/>
          </a:p>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was spent in this function</a:t>
            </a:r>
            <a:endParaRPr lang="en-US" sz="3200" dirty="0"/>
          </a:p>
        </p:txBody>
      </p:sp>
      <p:sp>
        <p:nvSpPr>
          <p:cNvPr id="4" name="Shape 2"/>
          <p:cNvSpPr/>
          <p:nvPr/>
        </p:nvSpPr>
        <p:spPr>
          <a:xfrm>
            <a:off x="594360" y="2880360"/>
            <a:ext cx="6766560" cy="1143000"/>
          </a:xfrm>
          <a:prstGeom prst="roundRect">
            <a:avLst>
              <a:gd name="adj" fmla="val 4800"/>
            </a:avLst>
          </a:prstGeom>
          <a:solidFill>
            <a:srgbClr val="24282F"/>
          </a:solidFill>
          <a:ln w="12700">
            <a:solidFill>
              <a:srgbClr val="343A43"/>
            </a:solidFill>
            <a:prstDash val="solid"/>
          </a:ln>
        </p:spPr>
      </p:sp>
      <p:sp>
        <p:nvSpPr>
          <p:cNvPr id="5" name="Text 3"/>
          <p:cNvSpPr txBox="1"/>
          <p:nvPr/>
        </p:nvSpPr>
        <p:spPr>
          <a:xfrm>
            <a:off x="914400" y="3108960"/>
            <a:ext cx="6126480" cy="731520"/>
          </a:xfrm>
          <a:prstGeom prst="rect">
            <a:avLst/>
          </a:prstGeom>
          <a:noFill/>
          <a:ln/>
        </p:spPr>
        <p:txBody>
          <a:bodyPr wrap="square" lIns="0" tIns="0" rIns="0" bIns="0" rtlCol="0" anchor="ctr"/>
          <a:lstStyle/>
          <a:p>
            <a:pPr indent="0" marL="0">
              <a:buNone/>
            </a:pPr>
            <a:r>
              <a:rPr lang="en-US" sz="1600" dirty="0">
                <a:solidFill>
                  <a:srgbClr val="8FD9C0"/>
                </a:solidFill>
                <a:latin typeface="Courier New" pitchFamily="34" charset="0"/>
                <a:ea typeface="Courier New" pitchFamily="34" charset="-122"/>
                <a:cs typeface="Courier New" pitchFamily="34" charset="-120"/>
              </a:rPr>
              <a:t>def mustBeVector(self):</a:t>
            </a:r>
            <a:endParaRPr lang="en-US" sz="1600" dirty="0"/>
          </a:p>
          <a:p>
            <a:pPr indent="0" marL="0">
              <a:buNone/>
            </a:pPr>
            <a:r>
              <a:rPr lang="en-US" sz="1600" dirty="0">
                <a:solidFill>
                  <a:srgbClr val="8FD9C0"/>
                </a:solidFill>
                <a:latin typeface="Courier New" pitchFamily="34" charset="0"/>
                <a:ea typeface="Courier New" pitchFamily="34" charset="-122"/>
                <a:cs typeface="Courier New" pitchFamily="34" charset="-120"/>
              </a:rPr>
              <a:t>    return self</a:t>
            </a:r>
            <a:endParaRPr lang="en-US" sz="1600" dirty="0"/>
          </a:p>
        </p:txBody>
      </p:sp>
      <p:sp>
        <p:nvSpPr>
          <p:cNvPr id="6" name="Text 4"/>
          <p:cNvSpPr txBox="1"/>
          <p:nvPr/>
        </p:nvSpPr>
        <p:spPr>
          <a:xfrm>
            <a:off x="594360" y="4251960"/>
            <a:ext cx="6766560" cy="914400"/>
          </a:xfrm>
          <a:prstGeom prst="rect">
            <a:avLst/>
          </a:prstGeom>
          <a:noFill/>
          <a:ln/>
        </p:spPr>
        <p:txBody>
          <a:bodyPr wrap="square" lIns="0" tIns="0" rIns="0" bIns="0" rtlCol="0" anchor="ctr"/>
          <a:lstStyle/>
          <a:p>
            <a:pPr indent="0" marL="0">
              <a:buNone/>
            </a:pPr>
            <a:r>
              <a:rPr lang="en-US" sz="1400" dirty="0">
                <a:solidFill>
                  <a:srgbClr val="C8CCD2"/>
                </a:solidFill>
                <a:latin typeface="Calibri" pitchFamily="34" charset="0"/>
                <a:ea typeface="Calibri" pitchFamily="34" charset="-122"/>
                <a:cs typeface="Calibri" pitchFamily="34" charset="-120"/>
              </a:rPr>
              <a:t>Called 520,539 times per frame — a real Python method call, frame push and pop, purely to assert an operand's type that Python already knew. It computes nothing.</a:t>
            </a:r>
            <a:endParaRPr lang="en-US" sz="1400" dirty="0"/>
          </a:p>
        </p:txBody>
      </p:sp>
      <p:sp>
        <p:nvSpPr>
          <p:cNvPr id="7" name="Text 5"/>
          <p:cNvSpPr txBox="1"/>
          <p:nvPr/>
        </p:nvSpPr>
        <p:spPr>
          <a:xfrm>
            <a:off x="7772400" y="1234440"/>
            <a:ext cx="3840480" cy="274320"/>
          </a:xfrm>
          <a:prstGeom prst="rect">
            <a:avLst/>
          </a:prstGeom>
          <a:noFill/>
          <a:ln/>
        </p:spPr>
        <p:txBody>
          <a:bodyPr wrap="square" lIns="0" tIns="0" rIns="0" bIns="0" rtlCol="0" anchor="ctr"/>
          <a:lstStyle/>
          <a:p>
            <a:pPr indent="0" marL="0">
              <a:buNone/>
            </a:pPr>
            <a:r>
              <a:rPr lang="en-US" sz="1100" b="1" spc="150" kern="0" dirty="0">
                <a:solidFill>
                  <a:srgbClr val="E8552D"/>
                </a:solidFill>
                <a:latin typeface="Calibri" pitchFamily="34" charset="0"/>
                <a:ea typeface="Calibri" pitchFamily="34" charset="-122"/>
                <a:cs typeface="Calibri" pitchFamily="34" charset="-120"/>
              </a:rPr>
              <a:t>cProfile, baseline</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0" y="1572768"/>
          <a:ext cx="3794760" cy="914400"/>
        </p:xfrm>
        <a:graphic>
          <a:graphicData uri="http://schemas.openxmlformats.org/drawingml/2006/table">
            <a:tbl>
              <a:tblPr/>
              <a:tblGrid>
                <a:gridCol w="960120"/>
                <a:gridCol w="2834640"/>
              </a:tblGrid>
              <a:tr h="26517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share</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function</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r>
              <a:tr h="265176">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16.8 %</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Vector.dot</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r>
              <a:tr h="265176">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14.5 %</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Point.__sub__</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r>
              <a:tr h="265176">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11.8 %</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Sphere.intersectionTime</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r>
              <a:tr h="265176">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8.7 %</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Vector.__init__</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r>
              <a:tr h="265176">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5.1 %</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Vector.scale</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r>
              <a:tr h="265176">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4.2 %</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Vector.normalized</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r>
              <a:tr h="265176">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3.7 %</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c>
                  <a:txBody>
                    <a:bodyPr/>
                    <a:lstStyle/>
                    <a:p>
                      <a:pPr indent="0" marL="0">
                        <a:buNone/>
                      </a:pPr>
                      <a:r>
                        <a:rPr lang="en-US" sz="1150" dirty="0">
                          <a:solidFill>
                            <a:srgbClr val="C8CCD2"/>
                          </a:solidFill>
                          <a:latin typeface="Calibri" pitchFamily="34" charset="0"/>
                          <a:ea typeface="Calibri" pitchFamily="34" charset="-122"/>
                          <a:cs typeface="Calibri" pitchFamily="34" charset="-120"/>
                        </a:rPr>
                        <a:t>Vector.mustBeVector</a:t>
                      </a:r>
                      <a:endParaRPr lang="en-US" sz="1150" dirty="0">
                        <a:latin typeface="Calibri" charset="0"/>
                        <a:ea typeface="Calibri" charset="0"/>
                        <a:cs typeface="Calibri" charset="0"/>
                      </a:endParaRPr>
                    </a:p>
                  </a:txBody>
                  <a:tcPr marL="91440" marR="91440" marT="45720" marB="45720" anchor="ctr">
                    <a:lnL w="12700" cap="flat" cmpd="sng" algn="ctr">
                      <a:solidFill>
                        <a:srgbClr val="343A43"/>
                      </a:solidFill>
                      <a:prstDash val="solid"/>
                      <a:round/>
                      <a:headEnd type="none" w="med" len="med"/>
                      <a:tailEnd type="none" w="med" len="med"/>
                    </a:lnL>
                    <a:lnR w="12700" cap="flat" cmpd="sng" algn="ctr">
                      <a:solidFill>
                        <a:srgbClr val="343A43"/>
                      </a:solidFill>
                      <a:prstDash val="solid"/>
                      <a:round/>
                      <a:headEnd type="none" w="med" len="med"/>
                      <a:tailEnd type="none" w="med" len="med"/>
                    </a:lnR>
                    <a:lnT w="12700" cap="flat" cmpd="sng" algn="ctr">
                      <a:solidFill>
                        <a:srgbClr val="343A43"/>
                      </a:solidFill>
                      <a:prstDash val="solid"/>
                      <a:round/>
                      <a:headEnd type="none" w="med" len="med"/>
                      <a:tailEnd type="none" w="med" len="med"/>
                    </a:lnT>
                    <a:lnB w="12700" cap="flat" cmpd="sng" algn="ctr">
                      <a:solidFill>
                        <a:srgbClr val="343A43"/>
                      </a:solidFill>
                      <a:prstDash val="solid"/>
                      <a:round/>
                      <a:headEnd type="none" w="med" len="med"/>
                      <a:tailEnd type="none" w="med" len="med"/>
                    </a:lnB>
                    <a:solidFill>
                      <a:srgbClr val="24282F"/>
                    </a:solidFill>
                  </a:tcPr>
                </a:tc>
              </a:tr>
            </a:tbl>
          </a:graphicData>
        </a:graphic>
      </p:graphicFrame>
      <p:sp>
        <p:nvSpPr>
          <p:cNvPr id="9" name="Text 6"/>
          <p:cNvSpPr txBox="1"/>
          <p:nvPr/>
        </p:nvSpPr>
        <p:spPr>
          <a:xfrm>
            <a:off x="7772400" y="4160520"/>
            <a:ext cx="3840480" cy="731520"/>
          </a:xfrm>
          <a:prstGeom prst="rect">
            <a:avLst/>
          </a:prstGeom>
          <a:noFill/>
          <a:ln/>
        </p:spPr>
        <p:txBody>
          <a:bodyPr wrap="square" lIns="0" tIns="0" rIns="0" bIns="0" rtlCol="0" anchor="ctr"/>
          <a:lstStyle/>
          <a:p>
            <a:pPr indent="0" marL="0">
              <a:buNone/>
            </a:pPr>
            <a:r>
              <a:rPr lang="en-US" sz="1300" b="1" dirty="0">
                <a:solidFill>
                  <a:srgbClr val="E8552D"/>
                </a:solidFill>
                <a:latin typeface="Calibri" pitchFamily="34" charset="0"/>
                <a:ea typeface="Calibri" pitchFamily="34" charset="-122"/>
                <a:cs typeface="Calibri" pitchFamily="34" charset="-120"/>
              </a:rPr>
              <a:t>Vector arithmetic = 56.8 % of runtime.</a:t>
            </a:r>
            <a:endParaRPr lang="en-US" sz="1300" dirty="0"/>
          </a:p>
          <a:p>
            <a:pPr indent="0" marL="0">
              <a:buNone/>
            </a:pPr>
            <a:r>
              <a:rPr lang="en-US" sz="1300" b="1" dirty="0">
                <a:solidFill>
                  <a:srgbClr val="E8552D"/>
                </a:solidFill>
                <a:latin typeface="Calibri" pitchFamily="34" charset="0"/>
                <a:ea typeface="Calibri" pitchFamily="34" charset="-122"/>
                <a:cs typeface="Calibri" pitchFamily="34" charset="-120"/>
              </a:rPr>
              <a:t>The actual geometry = 11.8 %.</a:t>
            </a:r>
            <a:endParaRPr lang="en-US" sz="1300" dirty="0"/>
          </a:p>
        </p:txBody>
      </p:sp>
      <p:sp>
        <p:nvSpPr>
          <p:cNvPr id="10" name="Text 7"/>
          <p:cNvSpPr txBox="1"/>
          <p:nvPr/>
        </p:nvSpPr>
        <p:spPr>
          <a:xfrm>
            <a:off x="7772400" y="4892040"/>
            <a:ext cx="3840480" cy="914400"/>
          </a:xfrm>
          <a:prstGeom prst="rect">
            <a:avLst/>
          </a:prstGeom>
          <a:noFill/>
          <a:ln/>
        </p:spPr>
        <p:txBody>
          <a:bodyPr wrap="square" lIns="0" tIns="0" rIns="0" bIns="0" rtlCol="0" anchor="ctr"/>
          <a:lstStyle/>
          <a:p>
            <a:pPr indent="0" marL="0">
              <a:buNone/>
            </a:pPr>
            <a:r>
              <a:rPr lang="en-US" sz="1200" dirty="0">
                <a:solidFill>
                  <a:srgbClr val="9AA0A6"/>
                </a:solidFill>
                <a:latin typeface="Calibri" pitchFamily="34" charset="0"/>
                <a:ea typeface="Calibri" pitchFamily="34" charset="-122"/>
                <a:cs typeface="Calibri" pitchFamily="34" charset="-120"/>
              </a:rPr>
              <a:t>The program spent five times more effort manipulating vector objects than doing the geometry those objects exist to express.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BENCHMARK 1 — OPTIMIZATION</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What we changed — and what we did not</a:t>
            </a:r>
            <a:endParaRPr lang="en-US" sz="3200" dirty="0"/>
          </a:p>
        </p:txBody>
      </p:sp>
      <p:sp>
        <p:nvSpPr>
          <p:cNvPr id="4" name="Shape 2"/>
          <p:cNvSpPr/>
          <p:nvPr/>
        </p:nvSpPr>
        <p:spPr>
          <a:xfrm>
            <a:off x="594360" y="1481328"/>
            <a:ext cx="310896" cy="310896"/>
          </a:xfrm>
          <a:prstGeom prst="ellipse">
            <a:avLst/>
          </a:prstGeom>
          <a:solidFill>
            <a:srgbClr val="E8552D"/>
          </a:solidFill>
          <a:ln/>
        </p:spPr>
      </p:sp>
      <p:sp>
        <p:nvSpPr>
          <p:cNvPr id="5" name="Text 3"/>
          <p:cNvSpPr txBox="1"/>
          <p:nvPr/>
        </p:nvSpPr>
        <p:spPr>
          <a:xfrm>
            <a:off x="594360" y="14813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51560" y="1463040"/>
            <a:ext cx="3200400" cy="292608"/>
          </a:xfrm>
          <a:prstGeom prst="rect">
            <a:avLst/>
          </a:prstGeom>
          <a:noFill/>
          <a:ln/>
        </p:spPr>
        <p:txBody>
          <a:bodyPr wrap="square" lIns="0" tIns="0" rIns="0" bIns="0" rtlCol="0" anchor="ctr"/>
          <a:lstStyle/>
          <a:p>
            <a:pPr indent="0" marL="0">
              <a:buNone/>
            </a:pPr>
            <a:r>
              <a:rPr lang="en-US" sz="1350" b="1" dirty="0">
                <a:solidFill>
                  <a:srgbClr val="23272E"/>
                </a:solidFill>
                <a:latin typeface="Calibri" pitchFamily="34" charset="0"/>
                <a:ea typeface="Calibri" pitchFamily="34" charset="-122"/>
                <a:cs typeface="Calibri" pitchFamily="34" charset="-120"/>
              </a:rPr>
              <a:t>__slots__ everywhere</a:t>
            </a:r>
            <a:endParaRPr lang="en-US" sz="1350" dirty="0"/>
          </a:p>
        </p:txBody>
      </p:sp>
      <p:sp>
        <p:nvSpPr>
          <p:cNvPr id="7" name="Text 5"/>
          <p:cNvSpPr txBox="1"/>
          <p:nvPr/>
        </p:nvSpPr>
        <p:spPr>
          <a:xfrm>
            <a:off x="4297680" y="1463040"/>
            <a:ext cx="466344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Vector, Point, Sphere, Ray… every instance carried a full __dict__</a:t>
            </a:r>
            <a:endParaRPr lang="en-US" sz="1200" dirty="0"/>
          </a:p>
        </p:txBody>
      </p:sp>
      <p:sp>
        <p:nvSpPr>
          <p:cNvPr id="8" name="Shape 6"/>
          <p:cNvSpPr/>
          <p:nvPr/>
        </p:nvSpPr>
        <p:spPr>
          <a:xfrm>
            <a:off x="594360" y="2048256"/>
            <a:ext cx="310896" cy="310896"/>
          </a:xfrm>
          <a:prstGeom prst="ellipse">
            <a:avLst/>
          </a:prstGeom>
          <a:solidFill>
            <a:srgbClr val="E8552D"/>
          </a:solidFill>
          <a:ln/>
        </p:spPr>
      </p:sp>
      <p:sp>
        <p:nvSpPr>
          <p:cNvPr id="9" name="Text 7"/>
          <p:cNvSpPr txBox="1"/>
          <p:nvPr/>
        </p:nvSpPr>
        <p:spPr>
          <a:xfrm>
            <a:off x="594360" y="20482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51560" y="2029968"/>
            <a:ext cx="3200400" cy="292608"/>
          </a:xfrm>
          <a:prstGeom prst="rect">
            <a:avLst/>
          </a:prstGeom>
          <a:noFill/>
          <a:ln/>
        </p:spPr>
        <p:txBody>
          <a:bodyPr wrap="square" lIns="0" tIns="0" rIns="0" bIns="0" rtlCol="0" anchor="ctr"/>
          <a:lstStyle/>
          <a:p>
            <a:pPr indent="0" marL="0">
              <a:buNone/>
            </a:pPr>
            <a:r>
              <a:rPr lang="en-US" sz="1350" b="1" dirty="0">
                <a:solidFill>
                  <a:srgbClr val="23272E"/>
                </a:solidFill>
                <a:latin typeface="Calibri" pitchFamily="34" charset="0"/>
                <a:ea typeface="Calibri" pitchFamily="34" charset="-122"/>
                <a:cs typeface="Calibri" pitchFamily="34" charset="-120"/>
              </a:rPr>
              <a:t>Killed the type assertions</a:t>
            </a:r>
            <a:endParaRPr lang="en-US" sz="1350" dirty="0"/>
          </a:p>
        </p:txBody>
      </p:sp>
      <p:sp>
        <p:nvSpPr>
          <p:cNvPr id="11" name="Text 9"/>
          <p:cNvSpPr txBox="1"/>
          <p:nvPr/>
        </p:nvSpPr>
        <p:spPr>
          <a:xfrm>
            <a:off x="4297680" y="2029968"/>
            <a:ext cx="466344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isPoint()/mustBeVector() method calls became a class-level flag</a:t>
            </a:r>
            <a:endParaRPr lang="en-US" sz="1200" dirty="0"/>
          </a:p>
        </p:txBody>
      </p:sp>
      <p:sp>
        <p:nvSpPr>
          <p:cNvPr id="12" name="Shape 10"/>
          <p:cNvSpPr/>
          <p:nvPr/>
        </p:nvSpPr>
        <p:spPr>
          <a:xfrm>
            <a:off x="594360" y="2615184"/>
            <a:ext cx="310896" cy="310896"/>
          </a:xfrm>
          <a:prstGeom prst="ellipse">
            <a:avLst/>
          </a:prstGeom>
          <a:solidFill>
            <a:srgbClr val="E8552D"/>
          </a:solidFill>
          <a:ln/>
        </p:spPr>
      </p:sp>
      <p:sp>
        <p:nvSpPr>
          <p:cNvPr id="13" name="Text 11"/>
          <p:cNvSpPr txBox="1"/>
          <p:nvPr/>
        </p:nvSpPr>
        <p:spPr>
          <a:xfrm>
            <a:off x="594360" y="26151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51560" y="2596896"/>
            <a:ext cx="3200400" cy="292608"/>
          </a:xfrm>
          <a:prstGeom prst="rect">
            <a:avLst/>
          </a:prstGeom>
          <a:noFill/>
          <a:ln/>
        </p:spPr>
        <p:txBody>
          <a:bodyPr wrap="square" lIns="0" tIns="0" rIns="0" bIns="0" rtlCol="0" anchor="ctr"/>
          <a:lstStyle/>
          <a:p>
            <a:pPr indent="0" marL="0">
              <a:buNone/>
            </a:pPr>
            <a:r>
              <a:rPr lang="en-US" sz="1350" b="1" dirty="0">
                <a:solidFill>
                  <a:srgbClr val="23272E"/>
                </a:solidFill>
                <a:latin typeface="Calibri" pitchFamily="34" charset="0"/>
                <a:ea typeface="Calibri" pitchFamily="34" charset="-122"/>
                <a:cs typeface="Calibri" pitchFamily="34" charset="-120"/>
              </a:rPr>
              <a:t>Inlined normalized()</a:t>
            </a:r>
            <a:endParaRPr lang="en-US" sz="1350" dirty="0"/>
          </a:p>
        </p:txBody>
      </p:sp>
      <p:sp>
        <p:nvSpPr>
          <p:cNvPr id="15" name="Text 13"/>
          <p:cNvSpPr txBox="1"/>
          <p:nvPr/>
        </p:nvSpPr>
        <p:spPr>
          <a:xfrm>
            <a:off x="4297680" y="2596896"/>
            <a:ext cx="466344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was a 5-deep call chain: normalized→scale→magnitude→dot→mustBeVector</a:t>
            </a:r>
            <a:endParaRPr lang="en-US" sz="1200" dirty="0"/>
          </a:p>
        </p:txBody>
      </p:sp>
      <p:sp>
        <p:nvSpPr>
          <p:cNvPr id="16" name="Shape 14"/>
          <p:cNvSpPr/>
          <p:nvPr/>
        </p:nvSpPr>
        <p:spPr>
          <a:xfrm>
            <a:off x="594360" y="3182112"/>
            <a:ext cx="310896" cy="310896"/>
          </a:xfrm>
          <a:prstGeom prst="ellipse">
            <a:avLst/>
          </a:prstGeom>
          <a:solidFill>
            <a:srgbClr val="E8552D"/>
          </a:solidFill>
          <a:ln/>
        </p:spPr>
      </p:sp>
      <p:sp>
        <p:nvSpPr>
          <p:cNvPr id="17" name="Text 15"/>
          <p:cNvSpPr txBox="1"/>
          <p:nvPr/>
        </p:nvSpPr>
        <p:spPr>
          <a:xfrm>
            <a:off x="594360" y="31821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51560" y="3163824"/>
            <a:ext cx="3200400" cy="292608"/>
          </a:xfrm>
          <a:prstGeom prst="rect">
            <a:avLst/>
          </a:prstGeom>
          <a:noFill/>
          <a:ln/>
        </p:spPr>
        <p:txBody>
          <a:bodyPr wrap="square" lIns="0" tIns="0" rIns="0" bIns="0" rtlCol="0" anchor="ctr"/>
          <a:lstStyle/>
          <a:p>
            <a:pPr indent="0" marL="0">
              <a:buNone/>
            </a:pPr>
            <a:r>
              <a:rPr lang="en-US" sz="1350" b="1" dirty="0">
                <a:solidFill>
                  <a:srgbClr val="23272E"/>
                </a:solidFill>
                <a:latin typeface="Calibri" pitchFamily="34" charset="0"/>
                <a:ea typeface="Calibri" pitchFamily="34" charset="-122"/>
                <a:cs typeface="Calibri" pitchFamily="34" charset="-120"/>
              </a:rPr>
              <a:t>Rewrote intersectionTime</a:t>
            </a:r>
            <a:endParaRPr lang="en-US" sz="1350" dirty="0"/>
          </a:p>
        </p:txBody>
      </p:sp>
      <p:sp>
        <p:nvSpPr>
          <p:cNvPr id="19" name="Text 17"/>
          <p:cNvSpPr txBox="1"/>
          <p:nvPr/>
        </p:nvSpPr>
        <p:spPr>
          <a:xfrm>
            <a:off x="4297680" y="3163824"/>
            <a:ext cx="466344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works on scalars — removes an allocation + 3 calls per object per ray</a:t>
            </a:r>
            <a:endParaRPr lang="en-US" sz="1200" dirty="0"/>
          </a:p>
        </p:txBody>
      </p:sp>
      <p:sp>
        <p:nvSpPr>
          <p:cNvPr id="20" name="Shape 18"/>
          <p:cNvSpPr/>
          <p:nvPr/>
        </p:nvSpPr>
        <p:spPr>
          <a:xfrm>
            <a:off x="594360" y="3749040"/>
            <a:ext cx="310896" cy="310896"/>
          </a:xfrm>
          <a:prstGeom prst="ellipse">
            <a:avLst/>
          </a:prstGeom>
          <a:solidFill>
            <a:srgbClr val="E8552D"/>
          </a:solidFill>
          <a:ln/>
        </p:spPr>
      </p:sp>
      <p:sp>
        <p:nvSpPr>
          <p:cNvPr id="21" name="Text 19"/>
          <p:cNvSpPr txBox="1"/>
          <p:nvPr/>
        </p:nvSpPr>
        <p:spPr>
          <a:xfrm>
            <a:off x="594360" y="37490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051560" y="3730752"/>
            <a:ext cx="3200400" cy="292608"/>
          </a:xfrm>
          <a:prstGeom prst="rect">
            <a:avLst/>
          </a:prstGeom>
          <a:noFill/>
          <a:ln/>
        </p:spPr>
        <p:txBody>
          <a:bodyPr wrap="square" lIns="0" tIns="0" rIns="0" bIns="0" rtlCol="0" anchor="ctr"/>
          <a:lstStyle/>
          <a:p>
            <a:pPr indent="0" marL="0">
              <a:buNone/>
            </a:pPr>
            <a:r>
              <a:rPr lang="en-US" sz="1350" b="1" dirty="0">
                <a:solidFill>
                  <a:srgbClr val="23272E"/>
                </a:solidFill>
                <a:latin typeface="Calibri" pitchFamily="34" charset="0"/>
                <a:ea typeface="Calibri" pitchFamily="34" charset="-122"/>
                <a:cs typeface="Calibri" pitchFamily="34" charset="-120"/>
              </a:rPr>
              <a:t>Hoisted a loop invariant</a:t>
            </a:r>
            <a:endParaRPr lang="en-US" sz="1350" dirty="0"/>
          </a:p>
        </p:txBody>
      </p:sp>
      <p:sp>
        <p:nvSpPr>
          <p:cNvPr id="23" name="Text 21"/>
          <p:cNvSpPr txBox="1"/>
          <p:nvPr/>
        </p:nvSpPr>
        <p:spPr>
          <a:xfrm>
            <a:off x="4297680" y="3730752"/>
            <a:ext cx="466344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_lightIsVisible rebuilt an identical shadow ray once per scene object</a:t>
            </a:r>
            <a:endParaRPr lang="en-US" sz="1200" dirty="0"/>
          </a:p>
        </p:txBody>
      </p:sp>
      <p:sp>
        <p:nvSpPr>
          <p:cNvPr id="24" name="Shape 22"/>
          <p:cNvSpPr/>
          <p:nvPr/>
        </p:nvSpPr>
        <p:spPr>
          <a:xfrm>
            <a:off x="594360" y="4315968"/>
            <a:ext cx="310896" cy="310896"/>
          </a:xfrm>
          <a:prstGeom prst="ellipse">
            <a:avLst/>
          </a:prstGeom>
          <a:solidFill>
            <a:srgbClr val="E8552D"/>
          </a:solidFill>
          <a:ln/>
        </p:spPr>
      </p:sp>
      <p:sp>
        <p:nvSpPr>
          <p:cNvPr id="25" name="Text 23"/>
          <p:cNvSpPr txBox="1"/>
          <p:nvPr/>
        </p:nvSpPr>
        <p:spPr>
          <a:xfrm>
            <a:off x="594360" y="43159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txBox="1"/>
          <p:nvPr/>
        </p:nvSpPr>
        <p:spPr>
          <a:xfrm>
            <a:off x="1051560" y="4297680"/>
            <a:ext cx="3200400" cy="292608"/>
          </a:xfrm>
          <a:prstGeom prst="rect">
            <a:avLst/>
          </a:prstGeom>
          <a:noFill/>
          <a:ln/>
        </p:spPr>
        <p:txBody>
          <a:bodyPr wrap="square" lIns="0" tIns="0" rIns="0" bIns="0" rtlCol="0" anchor="ctr"/>
          <a:lstStyle/>
          <a:p>
            <a:pPr indent="0" marL="0">
              <a:buNone/>
            </a:pPr>
            <a:r>
              <a:rPr lang="en-US" sz="1350" b="1" dirty="0">
                <a:solidFill>
                  <a:srgbClr val="23272E"/>
                </a:solidFill>
                <a:latin typeface="Calibri" pitchFamily="34" charset="0"/>
                <a:ea typeface="Calibri" pitchFamily="34" charset="-122"/>
                <a:cs typeface="Calibri" pitchFamily="34" charset="-120"/>
              </a:rPr>
              <a:t>Fused list + scan</a:t>
            </a:r>
            <a:endParaRPr lang="en-US" sz="1350" dirty="0"/>
          </a:p>
        </p:txBody>
      </p:sp>
      <p:sp>
        <p:nvSpPr>
          <p:cNvPr id="27" name="Text 25"/>
          <p:cNvSpPr txBox="1"/>
          <p:nvPr/>
        </p:nvSpPr>
        <p:spPr>
          <a:xfrm>
            <a:off x="4297680" y="4297680"/>
            <a:ext cx="466344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built a tuple list per ray just to find the nearest hit</a:t>
            </a:r>
            <a:endParaRPr lang="en-US" sz="1200" dirty="0"/>
          </a:p>
        </p:txBody>
      </p:sp>
      <p:sp>
        <p:nvSpPr>
          <p:cNvPr id="28" name="Shape 26"/>
          <p:cNvSpPr/>
          <p:nvPr/>
        </p:nvSpPr>
        <p:spPr>
          <a:xfrm>
            <a:off x="8732520" y="1371600"/>
            <a:ext cx="2834640" cy="3566160"/>
          </a:xfrm>
          <a:prstGeom prst="roundRect">
            <a:avLst>
              <a:gd name="adj" fmla="val 1935"/>
            </a:avLst>
          </a:prstGeom>
          <a:solidFill>
            <a:srgbClr val="FDF1EC"/>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29" name="Text 27"/>
          <p:cNvSpPr txBox="1"/>
          <p:nvPr/>
        </p:nvSpPr>
        <p:spPr>
          <a:xfrm>
            <a:off x="8961120" y="1554480"/>
            <a:ext cx="2377440" cy="274320"/>
          </a:xfrm>
          <a:prstGeom prst="rect">
            <a:avLst/>
          </a:prstGeom>
          <a:noFill/>
          <a:ln/>
        </p:spPr>
        <p:txBody>
          <a:bodyPr wrap="square" lIns="0" tIns="0" rIns="0" bIns="0" rtlCol="0" anchor="ctr"/>
          <a:lstStyle/>
          <a:p>
            <a:pPr indent="0" marL="0">
              <a:buNone/>
            </a:pPr>
            <a:r>
              <a:rPr lang="en-US" sz="1500" b="1" dirty="0">
                <a:solidFill>
                  <a:srgbClr val="E8552D"/>
                </a:solidFill>
                <a:latin typeface="Cambria" pitchFamily="34" charset="0"/>
                <a:ea typeface="Cambria" pitchFamily="34" charset="-122"/>
                <a:cs typeface="Cambria" pitchFamily="34" charset="-120"/>
              </a:rPr>
              <a:t>Rejected</a:t>
            </a:r>
            <a:endParaRPr lang="en-US" sz="1500" dirty="0"/>
          </a:p>
        </p:txBody>
      </p:sp>
      <p:sp>
        <p:nvSpPr>
          <p:cNvPr id="30" name="Text 28"/>
          <p:cNvSpPr txBox="1"/>
          <p:nvPr/>
        </p:nvSpPr>
        <p:spPr>
          <a:xfrm>
            <a:off x="8961120" y="1920240"/>
            <a:ext cx="2377440" cy="2834640"/>
          </a:xfrm>
          <a:prstGeom prst="rect">
            <a:avLst/>
          </a:prstGeom>
          <a:noFill/>
          <a:ln/>
        </p:spPr>
        <p:txBody>
          <a:bodyPr wrap="square" lIns="0" tIns="0" rIns="0" bIns="0" rtlCol="0" anchor="ctr"/>
          <a:lstStyle/>
          <a:p>
            <a:pPr indent="0" marL="0">
              <a:buNone/>
            </a:pPr>
            <a:r>
              <a:rPr lang="en-US" sz="1100" dirty="0">
                <a:solidFill>
                  <a:srgbClr val="23272E"/>
                </a:solidFill>
                <a:latin typeface="Calibri" pitchFamily="34" charset="0"/>
                <a:ea typeface="Calibri" pitchFamily="34" charset="-122"/>
                <a:cs typeface="Calibri" pitchFamily="34" charset="-120"/>
              </a:rPr>
              <a:t>numpy — vectors are only 3 elements, so per-call ndarray overhead exceeds the arithmetic it replaces. numpy wins on large arrays; this workload has none.</a:t>
            </a:r>
            <a:endParaRPr lang="en-US" sz="1100" dirty="0"/>
          </a:p>
          <a:p>
            <a:pPr indent="0" marL="0">
              <a:buNone/>
            </a:pPr>
            <a:endParaRPr lang="en-US" sz="1100" dirty="0"/>
          </a:p>
          <a:p>
            <a:pPr indent="0" marL="0">
              <a:buNone/>
            </a:pPr>
            <a:r>
              <a:rPr lang="en-US" sz="1100" dirty="0">
                <a:solidFill>
                  <a:srgbClr val="23272E"/>
                </a:solidFill>
                <a:latin typeface="Calibri" pitchFamily="34" charset="0"/>
                <a:ea typeface="Calibri" pitchFamily="34" charset="-122"/>
                <a:cs typeface="Calibri" pitchFamily="34" charset="-120"/>
              </a:rPr>
              <a:t>Tuples instead of classes — that rewrites every call site: a different program, not an optimization of this one.</a:t>
            </a:r>
            <a:endParaRPr lang="en-US" sz="1100" dirty="0"/>
          </a:p>
        </p:txBody>
      </p:sp>
      <p:sp>
        <p:nvSpPr>
          <p:cNvPr id="31" name="Text 29"/>
          <p:cNvSpPr txBox="1"/>
          <p:nvPr/>
        </p:nvSpPr>
        <p:spPr>
          <a:xfrm>
            <a:off x="594360" y="5120640"/>
            <a:ext cx="10881360" cy="548640"/>
          </a:xfrm>
          <a:prstGeom prst="rect">
            <a:avLst/>
          </a:prstGeom>
          <a:noFill/>
          <a:ln/>
        </p:spPr>
        <p:txBody>
          <a:bodyPr wrap="square" lIns="0" tIns="0" rIns="0" bIns="0" rtlCol="0" anchor="ctr"/>
          <a:lstStyle/>
          <a:p>
            <a:pPr indent="0" marL="0">
              <a:buNone/>
            </a:pPr>
            <a:r>
              <a:rPr lang="en-US" sz="1400" b="1" dirty="0">
                <a:solidFill>
                  <a:srgbClr val="23272E"/>
                </a:solidFill>
                <a:latin typeface="Calibri" pitchFamily="34" charset="0"/>
                <a:ea typeface="Calibri" pitchFamily="34" charset="-122"/>
                <a:cs typeface="Calibri" pitchFamily="34" charset="-120"/>
              </a:rPr>
              <a:t>No algorithm was replaced. The optimized renderer performs exactly the same 204,958 intersection tests — and produces a byte-identical image.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BENCHMARK 1 — RESULTS</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raytrace: 2.98× faster, identical output</a:t>
            </a:r>
            <a:endParaRPr lang="en-US" sz="3200" dirty="0"/>
          </a:p>
        </p:txBody>
      </p:sp>
      <p:sp>
        <p:nvSpPr>
          <p:cNvPr id="4" name="Text 2"/>
          <p:cNvSpPr txBox="1"/>
          <p:nvPr/>
        </p:nvSpPr>
        <p:spPr>
          <a:xfrm>
            <a:off x="594360" y="1417320"/>
            <a:ext cx="2743200" cy="658368"/>
          </a:xfrm>
          <a:prstGeom prst="rect">
            <a:avLst/>
          </a:prstGeom>
          <a:noFill/>
          <a:ln/>
        </p:spPr>
        <p:txBody>
          <a:bodyPr wrap="square" lIns="0" tIns="0" rIns="0" bIns="0" rtlCol="0" anchor="ctr"/>
          <a:lstStyle/>
          <a:p>
            <a:pPr indent="0" marL="0">
              <a:buNone/>
            </a:pPr>
            <a:r>
              <a:rPr lang="en-US" sz="4000" b="1" dirty="0">
                <a:solidFill>
                  <a:srgbClr val="E8552D"/>
                </a:solidFill>
                <a:latin typeface="Cambria" pitchFamily="34" charset="0"/>
                <a:ea typeface="Cambria" pitchFamily="34" charset="-122"/>
                <a:cs typeface="Cambria" pitchFamily="34" charset="-120"/>
              </a:rPr>
              <a:t>2.15 s → 719 ms</a:t>
            </a:r>
            <a:endParaRPr lang="en-US" sz="4000" dirty="0"/>
          </a:p>
        </p:txBody>
      </p:sp>
      <p:sp>
        <p:nvSpPr>
          <p:cNvPr id="5" name="Text 3"/>
          <p:cNvSpPr txBox="1"/>
          <p:nvPr/>
        </p:nvSpPr>
        <p:spPr>
          <a:xfrm>
            <a:off x="594360" y="2057400"/>
            <a:ext cx="2743200" cy="45720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pyperf, ±1 % std dev</a:t>
            </a:r>
            <a:endParaRPr lang="en-US" sz="1200" dirty="0"/>
          </a:p>
        </p:txBody>
      </p:sp>
      <p:sp>
        <p:nvSpPr>
          <p:cNvPr id="6" name="Text 4"/>
          <p:cNvSpPr txBox="1"/>
          <p:nvPr/>
        </p:nvSpPr>
        <p:spPr>
          <a:xfrm>
            <a:off x="3703320" y="1371600"/>
            <a:ext cx="2011680" cy="822960"/>
          </a:xfrm>
          <a:prstGeom prst="rect">
            <a:avLst/>
          </a:prstGeom>
          <a:noFill/>
          <a:ln/>
        </p:spPr>
        <p:txBody>
          <a:bodyPr wrap="square" lIns="0" tIns="0" rIns="0" bIns="0" rtlCol="0" anchor="ctr"/>
          <a:lstStyle/>
          <a:p>
            <a:pPr indent="0" marL="0">
              <a:buNone/>
            </a:pPr>
            <a:r>
              <a:rPr lang="en-US" sz="5200" b="1" dirty="0">
                <a:solidFill>
                  <a:srgbClr val="E8552D"/>
                </a:solidFill>
                <a:latin typeface="Cambria" pitchFamily="34" charset="0"/>
                <a:ea typeface="Cambria" pitchFamily="34" charset="-122"/>
                <a:cs typeface="Cambria" pitchFamily="34" charset="-120"/>
              </a:rPr>
              <a:t>2.98×</a:t>
            </a:r>
            <a:endParaRPr lang="en-US" sz="5200" dirty="0"/>
          </a:p>
        </p:txBody>
      </p:sp>
      <p:sp>
        <p:nvSpPr>
          <p:cNvPr id="7" name="Text 5"/>
          <p:cNvSpPr txBox="1"/>
          <p:nvPr/>
        </p:nvSpPr>
        <p:spPr>
          <a:xfrm>
            <a:off x="3703320" y="2194560"/>
            <a:ext cx="237744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66.6 % faster</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requirement was 7 %</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35040" y="1371600"/>
          <a:ext cx="5532120" cy="914400"/>
        </p:xfrm>
        <a:graphic>
          <a:graphicData uri="http://schemas.openxmlformats.org/drawingml/2006/table">
            <a:tbl>
              <a:tblPr/>
              <a:tblGrid>
                <a:gridCol w="1828800"/>
                <a:gridCol w="1280160"/>
                <a:gridCol w="1280160"/>
                <a:gridCol w="1143000"/>
              </a:tblGrid>
              <a:tr h="274320">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before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after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change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Cycles</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25.98 B</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9.02 B</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2.88× fewer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Instructions</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53.33 B</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19.71 B</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2.71× fewer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IPC</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2.07</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2.18</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 flat</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Cache references</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38.0 M</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15.3 M</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2.49× fewer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Page faults</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3,391</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3,391</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identical</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bl>
          </a:graphicData>
        </a:graphic>
      </p:graphicFrame>
      <p:sp>
        <p:nvSpPr>
          <p:cNvPr id="9" name="Shape 6"/>
          <p:cNvSpPr/>
          <p:nvPr/>
        </p:nvSpPr>
        <p:spPr>
          <a:xfrm>
            <a:off x="594360" y="3200400"/>
            <a:ext cx="5120640" cy="2377440"/>
          </a:xfrm>
          <a:prstGeom prst="roundRect">
            <a:avLst>
              <a:gd name="adj" fmla="val 2308"/>
            </a:avLst>
          </a:prstGeom>
          <a:solidFill>
            <a:srgbClr val="FDF1EC"/>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0" name="Text 7"/>
          <p:cNvSpPr txBox="1"/>
          <p:nvPr/>
        </p:nvSpPr>
        <p:spPr>
          <a:xfrm>
            <a:off x="868680" y="3383280"/>
            <a:ext cx="4572000" cy="274320"/>
          </a:xfrm>
          <a:prstGeom prst="rect">
            <a:avLst/>
          </a:prstGeom>
          <a:noFill/>
          <a:ln/>
        </p:spPr>
        <p:txBody>
          <a:bodyPr wrap="square" lIns="0" tIns="0" rIns="0" bIns="0" rtlCol="0" anchor="ctr"/>
          <a:lstStyle/>
          <a:p>
            <a:pPr indent="0" marL="0">
              <a:buNone/>
            </a:pPr>
            <a:r>
              <a:rPr lang="en-US" sz="1500" b="1" dirty="0">
                <a:solidFill>
                  <a:srgbClr val="23272E"/>
                </a:solidFill>
                <a:latin typeface="Cambria" pitchFamily="34" charset="0"/>
                <a:ea typeface="Cambria" pitchFamily="34" charset="-122"/>
                <a:cs typeface="Cambria" pitchFamily="34" charset="-120"/>
              </a:rPr>
              <a:t>Why this is removed work, not luck</a:t>
            </a:r>
            <a:endParaRPr lang="en-US" sz="1500" dirty="0"/>
          </a:p>
        </p:txBody>
      </p:sp>
      <p:sp>
        <p:nvSpPr>
          <p:cNvPr id="11" name="Text 8"/>
          <p:cNvSpPr txBox="1"/>
          <p:nvPr/>
        </p:nvSpPr>
        <p:spPr>
          <a:xfrm>
            <a:off x="868680" y="3703320"/>
            <a:ext cx="4572000" cy="1737360"/>
          </a:xfrm>
          <a:prstGeom prst="rect">
            <a:avLst/>
          </a:prstGeom>
          <a:noFill/>
          <a:ln/>
        </p:spPr>
        <p:txBody>
          <a:bodyPr wrap="square" lIns="0" tIns="0" rIns="0" bIns="0" rtlCol="0" anchor="ctr"/>
          <a:lstStyle/>
          <a:p>
            <a:pPr indent="0" marL="0">
              <a:buNone/>
            </a:pPr>
            <a:r>
              <a:rPr lang="en-US" sz="1200" dirty="0">
                <a:solidFill>
                  <a:srgbClr val="23272E"/>
                </a:solidFill>
                <a:latin typeface="Calibri" pitchFamily="34" charset="0"/>
                <a:ea typeface="Calibri" pitchFamily="34" charset="-122"/>
                <a:cs typeface="Calibri" pitchFamily="34" charset="-120"/>
              </a:rPr>
              <a:t>Cycles fell 2.88× and instructions 2.71× while IPC barely moved. The CPU is executing just as efficiently — it simply has 2.7 billion fewer instructions to run.</a:t>
            </a:r>
            <a:endParaRPr lang="en-US" sz="1200" dirty="0"/>
          </a:p>
          <a:p>
            <a:pPr indent="0" marL="0">
              <a:buNone/>
            </a:pPr>
            <a:endParaRPr lang="en-US" sz="1200" dirty="0"/>
          </a:p>
          <a:p>
            <a:pPr indent="0" marL="0">
              <a:buNone/>
            </a:pPr>
            <a:r>
              <a:rPr lang="en-US" sz="1200" dirty="0">
                <a:solidFill>
                  <a:srgbClr val="23272E"/>
                </a:solidFill>
                <a:latin typeface="Calibri" pitchFamily="34" charset="0"/>
                <a:ea typeface="Calibri" pitchFamily="34" charset="-122"/>
                <a:cs typeface="Calibri" pitchFamily="34" charset="-120"/>
              </a:rPr>
              <a:t>Page faults are identical to the fault, so nothing here is an allocation or I/O artefact.</a:t>
            </a:r>
            <a:endParaRPr lang="en-US" sz="1200" dirty="0"/>
          </a:p>
        </p:txBody>
      </p:sp>
      <p:sp>
        <p:nvSpPr>
          <p:cNvPr id="12" name="Text 9"/>
          <p:cNvSpPr txBox="1"/>
          <p:nvPr/>
        </p:nvSpPr>
        <p:spPr>
          <a:xfrm>
            <a:off x="6035040" y="3246120"/>
            <a:ext cx="5486400" cy="274320"/>
          </a:xfrm>
          <a:prstGeom prst="rect">
            <a:avLst/>
          </a:prstGeom>
          <a:noFill/>
          <a:ln/>
        </p:spPr>
        <p:txBody>
          <a:bodyPr wrap="square" lIns="0" tIns="0" rIns="0" bIns="0" rtlCol="0" anchor="ctr"/>
          <a:lstStyle/>
          <a:p>
            <a:pPr indent="0" marL="0">
              <a:buNone/>
            </a:pPr>
            <a:r>
              <a:rPr lang="en-US" sz="1100" b="1" spc="150" kern="0" dirty="0">
                <a:solidFill>
                  <a:srgbClr val="E8552D"/>
                </a:solidFill>
                <a:latin typeface="Calibri" pitchFamily="34" charset="0"/>
                <a:ea typeface="Calibri" pitchFamily="34" charset="-122"/>
                <a:cs typeface="Calibri" pitchFamily="34" charset="-120"/>
              </a:rPr>
              <a:t>Call counts per frame</a:t>
            </a:r>
            <a:endParaRPr lang="en-US" sz="11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035040" y="3566160"/>
          <a:ext cx="5532120" cy="914400"/>
        </p:xfrm>
        <a:graphic>
          <a:graphicData uri="http://schemas.openxmlformats.org/drawingml/2006/table">
            <a:tbl>
              <a:tblPr/>
              <a:tblGrid>
                <a:gridCol w="2331720"/>
                <a:gridCol w="1600200"/>
                <a:gridCol w="1600200"/>
              </a:tblGrid>
              <a:tr h="274320">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function</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before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after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Vector.dot</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509,871</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41,070</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Point.__sub__</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277,865</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26,236</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Vector.__init__</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452,943</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125,285</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mustBeVector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520,539</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intersectionTime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179,457</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179,457</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6035040" y="5440680"/>
            <a:ext cx="553212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last row unchanged on purpose — same work, less cost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A TRAP WORTH KNOWING</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A number that got worse while the program got faster</a:t>
            </a:r>
            <a:endParaRPr lang="en-US" sz="3200" dirty="0"/>
          </a:p>
        </p:txBody>
      </p:sp>
      <p:sp>
        <p:nvSpPr>
          <p:cNvPr id="4" name="Shape 2"/>
          <p:cNvSpPr/>
          <p:nvPr/>
        </p:nvSpPr>
        <p:spPr>
          <a:xfrm>
            <a:off x="594360" y="1554480"/>
            <a:ext cx="5257800" cy="2103120"/>
          </a:xfrm>
          <a:prstGeom prst="roundRect">
            <a:avLst>
              <a:gd name="adj" fmla="val 2609"/>
            </a:avLst>
          </a:prstGeom>
          <a:solidFill>
            <a:srgbClr val="FDF1EC"/>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5" name="Text 3"/>
          <p:cNvSpPr txBox="1"/>
          <p:nvPr/>
        </p:nvSpPr>
        <p:spPr>
          <a:xfrm>
            <a:off x="868680" y="1783080"/>
            <a:ext cx="4663440" cy="274320"/>
          </a:xfrm>
          <a:prstGeom prst="rect">
            <a:avLst/>
          </a:prstGeom>
          <a:noFill/>
          <a:ln/>
        </p:spPr>
        <p:txBody>
          <a:bodyPr wrap="square" lIns="0" tIns="0" rIns="0" bIns="0" rtlCol="0" anchor="ctr"/>
          <a:lstStyle/>
          <a:p>
            <a:pPr indent="0" marL="0">
              <a:buNone/>
            </a:pPr>
            <a:r>
              <a:rPr lang="en-US" sz="1200" b="1" spc="150" kern="0" dirty="0">
                <a:solidFill>
                  <a:srgbClr val="6B7280"/>
                </a:solidFill>
                <a:latin typeface="Calibri" pitchFamily="34" charset="0"/>
                <a:ea typeface="Calibri" pitchFamily="34" charset="-122"/>
                <a:cs typeface="Calibri" pitchFamily="34" charset="-120"/>
              </a:rPr>
              <a:t>cache-miss RATE</a:t>
            </a:r>
            <a:endParaRPr lang="en-US" sz="1200" dirty="0"/>
          </a:p>
        </p:txBody>
      </p:sp>
      <p:sp>
        <p:nvSpPr>
          <p:cNvPr id="6" name="Text 4"/>
          <p:cNvSpPr txBox="1"/>
          <p:nvPr/>
        </p:nvSpPr>
        <p:spPr>
          <a:xfrm>
            <a:off x="868680" y="2103120"/>
            <a:ext cx="4663440" cy="548640"/>
          </a:xfrm>
          <a:prstGeom prst="rect">
            <a:avLst/>
          </a:prstGeom>
          <a:noFill/>
          <a:ln/>
        </p:spPr>
        <p:txBody>
          <a:bodyPr wrap="square" lIns="0" tIns="0" rIns="0" bIns="0" rtlCol="0" anchor="ctr"/>
          <a:lstStyle/>
          <a:p>
            <a:pPr indent="0" marL="0">
              <a:buNone/>
            </a:pPr>
            <a:r>
              <a:rPr lang="en-US" sz="3000" b="1" dirty="0">
                <a:solidFill>
                  <a:srgbClr val="E8552D"/>
                </a:solidFill>
                <a:latin typeface="Cambria" pitchFamily="34" charset="0"/>
                <a:ea typeface="Cambria" pitchFamily="34" charset="-122"/>
                <a:cs typeface="Cambria" pitchFamily="34" charset="-120"/>
              </a:rPr>
              <a:t>0.45 %  →  1.04 %</a:t>
            </a:r>
            <a:endParaRPr lang="en-US" sz="3000" dirty="0"/>
          </a:p>
        </p:txBody>
      </p:sp>
      <p:sp>
        <p:nvSpPr>
          <p:cNvPr id="7" name="Text 5"/>
          <p:cNvSpPr txBox="1"/>
          <p:nvPr/>
        </p:nvSpPr>
        <p:spPr>
          <a:xfrm>
            <a:off x="868680" y="2697480"/>
            <a:ext cx="4663440" cy="365760"/>
          </a:xfrm>
          <a:prstGeom prst="rect">
            <a:avLst/>
          </a:prstGeom>
          <a:noFill/>
          <a:ln/>
        </p:spPr>
        <p:txBody>
          <a:bodyPr wrap="square" lIns="0" tIns="0" rIns="0" bIns="0" rtlCol="0" anchor="ctr"/>
          <a:lstStyle/>
          <a:p>
            <a:pPr indent="0" marL="0">
              <a:buNone/>
            </a:pPr>
            <a:r>
              <a:rPr lang="en-US" sz="1250" dirty="0">
                <a:solidFill>
                  <a:srgbClr val="23272E"/>
                </a:solidFill>
                <a:latin typeface="Calibri" pitchFamily="34" charset="0"/>
                <a:ea typeface="Calibri" pitchFamily="34" charset="-122"/>
                <a:cs typeface="Calibri" pitchFamily="34" charset="-120"/>
              </a:rPr>
              <a:t>more than doubled  (pyflate: 6.5 % → 12.3 %)</a:t>
            </a:r>
            <a:endParaRPr lang="en-US" sz="1250" dirty="0"/>
          </a:p>
        </p:txBody>
      </p:sp>
      <p:sp>
        <p:nvSpPr>
          <p:cNvPr id="8" name="Shape 6"/>
          <p:cNvSpPr/>
          <p:nvPr/>
        </p:nvSpPr>
        <p:spPr>
          <a:xfrm>
            <a:off x="6309360" y="1554480"/>
            <a:ext cx="5257800" cy="2103120"/>
          </a:xfrm>
          <a:prstGeom prst="roundRect">
            <a:avLst>
              <a:gd name="adj" fmla="val 2609"/>
            </a:avLst>
          </a:prstGeom>
          <a:solidFill>
            <a:srgbClr val="EAF5F5"/>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9" name="Text 7"/>
          <p:cNvSpPr txBox="1"/>
          <p:nvPr/>
        </p:nvSpPr>
        <p:spPr>
          <a:xfrm>
            <a:off x="6583680" y="1783080"/>
            <a:ext cx="4663440" cy="274320"/>
          </a:xfrm>
          <a:prstGeom prst="rect">
            <a:avLst/>
          </a:prstGeom>
          <a:noFill/>
          <a:ln/>
        </p:spPr>
        <p:txBody>
          <a:bodyPr wrap="square" lIns="0" tIns="0" rIns="0" bIns="0" rtlCol="0" anchor="ctr"/>
          <a:lstStyle/>
          <a:p>
            <a:pPr indent="0" marL="0">
              <a:buNone/>
            </a:pPr>
            <a:r>
              <a:rPr lang="en-US" sz="1200" b="1" spc="150" kern="0" dirty="0">
                <a:solidFill>
                  <a:srgbClr val="6B7280"/>
                </a:solidFill>
                <a:latin typeface="Calibri" pitchFamily="34" charset="0"/>
                <a:ea typeface="Calibri" pitchFamily="34" charset="-122"/>
                <a:cs typeface="Calibri" pitchFamily="34" charset="-120"/>
              </a:rPr>
              <a:t>absolute counts</a:t>
            </a:r>
            <a:endParaRPr lang="en-US" sz="1200" dirty="0"/>
          </a:p>
        </p:txBody>
      </p:sp>
      <p:sp>
        <p:nvSpPr>
          <p:cNvPr id="10" name="Text 8"/>
          <p:cNvSpPr txBox="1"/>
          <p:nvPr/>
        </p:nvSpPr>
        <p:spPr>
          <a:xfrm>
            <a:off x="6583680" y="2103120"/>
            <a:ext cx="4663440" cy="822960"/>
          </a:xfrm>
          <a:prstGeom prst="rect">
            <a:avLst/>
          </a:prstGeom>
          <a:noFill/>
          <a:ln/>
        </p:spPr>
        <p:txBody>
          <a:bodyPr wrap="square" lIns="0" tIns="0" rIns="0" bIns="0" rtlCol="0" anchor="ctr"/>
          <a:lstStyle/>
          <a:p>
            <a:pPr indent="0" marL="0">
              <a:buNone/>
            </a:pPr>
            <a:r>
              <a:rPr lang="en-US" sz="1300" dirty="0">
                <a:solidFill>
                  <a:srgbClr val="2D9596"/>
                </a:solidFill>
                <a:latin typeface="Courier New" pitchFamily="34" charset="0"/>
                <a:ea typeface="Courier New" pitchFamily="34" charset="-122"/>
                <a:cs typeface="Courier New" pitchFamily="34" charset="-120"/>
              </a:rPr>
              <a:t>references  38.0 M → 15.3 M</a:t>
            </a:r>
            <a:endParaRPr lang="en-US" sz="1300" dirty="0"/>
          </a:p>
          <a:p>
            <a:pPr indent="0" marL="0">
              <a:buNone/>
            </a:pPr>
            <a:r>
              <a:rPr lang="en-US" sz="1300" dirty="0">
                <a:solidFill>
                  <a:srgbClr val="2D9596"/>
                </a:solidFill>
                <a:latin typeface="Courier New" pitchFamily="34" charset="0"/>
                <a:ea typeface="Courier New" pitchFamily="34" charset="-122"/>
                <a:cs typeface="Courier New" pitchFamily="34" charset="-120"/>
              </a:rPr>
              <a:t>misses      171,475 → 158,894</a:t>
            </a:r>
            <a:endParaRPr lang="en-US" sz="1300" dirty="0"/>
          </a:p>
        </p:txBody>
      </p:sp>
      <p:sp>
        <p:nvSpPr>
          <p:cNvPr id="11" name="Text 9"/>
          <p:cNvSpPr txBox="1"/>
          <p:nvPr/>
        </p:nvSpPr>
        <p:spPr>
          <a:xfrm>
            <a:off x="6583680" y="2926080"/>
            <a:ext cx="4663440" cy="365760"/>
          </a:xfrm>
          <a:prstGeom prst="rect">
            <a:avLst/>
          </a:prstGeom>
          <a:noFill/>
          <a:ln/>
        </p:spPr>
        <p:txBody>
          <a:bodyPr wrap="square" lIns="0" tIns="0" rIns="0" bIns="0" rtlCol="0" anchor="ctr"/>
          <a:lstStyle/>
          <a:p>
            <a:pPr indent="0" marL="0">
              <a:buNone/>
            </a:pPr>
            <a:r>
              <a:rPr lang="en-US" sz="1250" b="1" dirty="0">
                <a:solidFill>
                  <a:srgbClr val="23272E"/>
                </a:solidFill>
                <a:latin typeface="Calibri" pitchFamily="34" charset="0"/>
                <a:ea typeface="Calibri" pitchFamily="34" charset="-122"/>
                <a:cs typeface="Calibri" pitchFamily="34" charset="-120"/>
              </a:rPr>
              <a:t>both went DOWN</a:t>
            </a:r>
            <a:endParaRPr lang="en-US" sz="1250" dirty="0"/>
          </a:p>
        </p:txBody>
      </p:sp>
      <p:sp>
        <p:nvSpPr>
          <p:cNvPr id="12" name="Text 10"/>
          <p:cNvSpPr txBox="1"/>
          <p:nvPr/>
        </p:nvSpPr>
        <p:spPr>
          <a:xfrm>
            <a:off x="594360" y="3977640"/>
            <a:ext cx="10881360" cy="411480"/>
          </a:xfrm>
          <a:prstGeom prst="rect">
            <a:avLst/>
          </a:prstGeom>
          <a:noFill/>
          <a:ln/>
        </p:spPr>
        <p:txBody>
          <a:bodyPr wrap="square" lIns="0" tIns="0" rIns="0" bIns="0" rtlCol="0" anchor="ctr"/>
          <a:lstStyle/>
          <a:p>
            <a:pPr indent="0" marL="0">
              <a:buNone/>
            </a:pPr>
            <a:r>
              <a:rPr lang="en-US" sz="2100" b="1" dirty="0">
                <a:solidFill>
                  <a:srgbClr val="23272E"/>
                </a:solidFill>
                <a:latin typeface="Cambria" pitchFamily="34" charset="0"/>
                <a:ea typeface="Cambria" pitchFamily="34" charset="-122"/>
                <a:cs typeface="Cambria" pitchFamily="34" charset="-120"/>
              </a:rPr>
              <a:t>A rate is a quotient, and we collapsed its denominator.</a:t>
            </a:r>
            <a:endParaRPr lang="en-US" sz="2100" dirty="0"/>
          </a:p>
        </p:txBody>
      </p:sp>
      <p:sp>
        <p:nvSpPr>
          <p:cNvPr id="13" name="Text 11"/>
          <p:cNvSpPr txBox="1"/>
          <p:nvPr/>
        </p:nvSpPr>
        <p:spPr>
          <a:xfrm>
            <a:off x="594360" y="4434840"/>
            <a:ext cx="10881360" cy="1463040"/>
          </a:xfrm>
          <a:prstGeom prst="rect">
            <a:avLst/>
          </a:prstGeom>
          <a:noFill/>
          <a:ln/>
        </p:spPr>
        <p:txBody>
          <a:bodyPr wrap="square" lIns="0" tIns="0" rIns="0" bIns="0" rtlCol="0" anchor="ctr"/>
          <a:lstStyle/>
          <a:p>
            <a:pPr indent="0" marL="0">
              <a:lnSpc>
                <a:spcPct val="115000"/>
              </a:lnSpc>
              <a:buNone/>
            </a:pPr>
            <a:r>
              <a:rPr lang="en-US" sz="1400" dirty="0">
                <a:solidFill>
                  <a:srgbClr val="23272E"/>
                </a:solidFill>
                <a:latin typeface="Calibri" pitchFamily="34" charset="0"/>
                <a:ea typeface="Calibri" pitchFamily="34" charset="-122"/>
                <a:cs typeface="Calibri" pitchFamily="34" charset="-120"/>
              </a:rPr>
              <a:t>Deleting hundreds of thousands of object allocations removed a huge volume of cache references that were almost all HITS. What remains is mostly compulsory misses, so the ratio rose even though every absolute number improved.</a:t>
            </a:r>
            <a:endParaRPr lang="en-US" sz="1400" dirty="0"/>
          </a:p>
          <a:p>
            <a:pPr indent="0" marL="0">
              <a:lnSpc>
                <a:spcPct val="115000"/>
              </a:lnSpc>
              <a:buNone/>
            </a:pPr>
            <a:endParaRPr lang="en-US" sz="1400" dirty="0"/>
          </a:p>
          <a:p>
            <a:pPr indent="0" marL="0">
              <a:lnSpc>
                <a:spcPct val="115000"/>
              </a:lnSpc>
              <a:buNone/>
            </a:pPr>
            <a:r>
              <a:rPr lang="en-US" sz="1400" dirty="0">
                <a:solidFill>
                  <a:srgbClr val="23272E"/>
                </a:solidFill>
                <a:latin typeface="Calibri" pitchFamily="34" charset="0"/>
                <a:ea typeface="Calibri" pitchFamily="34" charset="-122"/>
                <a:cs typeface="Calibri" pitchFamily="34" charset="-120"/>
              </a:rPr>
              <a:t>This is exactly the trap Tutorial 2 sets with its 2D-array demo, where the faster row-major version had a 9× worse miss rate. Lesson: always report absolute counts next to rates.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BENCHMARK 2 — ANALYSIS</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pyflate: an algorithmic defect, not just overhead</a:t>
            </a:r>
            <a:endParaRPr lang="en-US" sz="3200" dirty="0"/>
          </a:p>
        </p:txBody>
      </p:sp>
      <p:sp>
        <p:nvSpPr>
          <p:cNvPr id="4" name="Text 2"/>
          <p:cNvSpPr txBox="1"/>
          <p:nvPr/>
        </p:nvSpPr>
        <p:spPr>
          <a:xfrm>
            <a:off x="594360" y="1417320"/>
            <a:ext cx="10881360" cy="457200"/>
          </a:xfrm>
          <a:prstGeom prst="rect">
            <a:avLst/>
          </a:prstGeom>
          <a:noFill/>
          <a:ln/>
        </p:spPr>
        <p:txBody>
          <a:bodyPr wrap="square" lIns="0" tIns="0" rIns="0" bIns="0" rtlCol="0" anchor="ctr"/>
          <a:lstStyle/>
          <a:p>
            <a:pPr indent="0" marL="0">
              <a:lnSpc>
                <a:spcPct val="115000"/>
              </a:lnSpc>
              <a:buNone/>
            </a:pPr>
            <a:r>
              <a:rPr lang="en-US" sz="1400" dirty="0">
                <a:solidFill>
                  <a:srgbClr val="23272E"/>
                </a:solidFill>
                <a:latin typeface="Calibri" pitchFamily="34" charset="0"/>
                <a:ea typeface="Calibri" pitchFamily="34" charset="-122"/>
                <a:cs typeface="Calibri" pitchFamily="34" charset="-120"/>
              </a:rPr>
              <a:t>Huffman decoding resolves each symbol by LINEARLY SCANNING the entire symbol table — up to 288 entries, three attribute loads each — once per symbol decoded.</a:t>
            </a:r>
            <a:endParaRPr lang="en-US" sz="1400" dirty="0"/>
          </a:p>
        </p:txBody>
      </p:sp>
      <p:sp>
        <p:nvSpPr>
          <p:cNvPr id="5" name="Shape 3"/>
          <p:cNvSpPr/>
          <p:nvPr/>
        </p:nvSpPr>
        <p:spPr>
          <a:xfrm>
            <a:off x="594360" y="2011680"/>
            <a:ext cx="5577840" cy="1691640"/>
          </a:xfrm>
          <a:prstGeom prst="roundRect">
            <a:avLst>
              <a:gd name="adj" fmla="val 3243"/>
            </a:avLst>
          </a:prstGeom>
          <a:solidFill>
            <a:srgbClr val="24282F"/>
          </a:solidFill>
          <a:ln/>
        </p:spPr>
      </p:sp>
      <p:sp>
        <p:nvSpPr>
          <p:cNvPr id="6" name="Text 4"/>
          <p:cNvSpPr txBox="1"/>
          <p:nvPr/>
        </p:nvSpPr>
        <p:spPr>
          <a:xfrm>
            <a:off x="868680" y="2194560"/>
            <a:ext cx="5120640" cy="1371600"/>
          </a:xfrm>
          <a:prstGeom prst="rect">
            <a:avLst/>
          </a:prstGeom>
          <a:noFill/>
          <a:ln/>
        </p:spPr>
        <p:txBody>
          <a:bodyPr wrap="square" lIns="0" tIns="0" rIns="0" bIns="0" rtlCol="0" anchor="ctr"/>
          <a:lstStyle/>
          <a:p>
            <a:pPr indent="0" marL="0">
              <a:buNone/>
            </a:pPr>
            <a:r>
              <a:rPr lang="en-US" sz="1150" dirty="0">
                <a:solidFill>
                  <a:srgbClr val="F0A080"/>
                </a:solidFill>
                <a:latin typeface="Courier New" pitchFamily="34" charset="0"/>
                <a:ea typeface="Courier New" pitchFamily="34" charset="-122"/>
                <a:cs typeface="Courier New" pitchFamily="34" charset="-120"/>
              </a:rPr>
              <a:t>for x in self.table:</a:t>
            </a:r>
            <a:endParaRPr lang="en-US" sz="1150" dirty="0"/>
          </a:p>
          <a:p>
            <a:pPr indent="0" marL="0">
              <a:buNone/>
            </a:pPr>
            <a:r>
              <a:rPr lang="en-US" sz="1150" dirty="0">
                <a:solidFill>
                  <a:srgbClr val="F0A080"/>
                </a:solidFill>
                <a:latin typeface="Courier New" pitchFamily="34" charset="0"/>
                <a:ea typeface="Courier New" pitchFamily="34" charset="-122"/>
                <a:cs typeface="Courier New" pitchFamily="34" charset="-120"/>
              </a:rPr>
              <a:t>    if cached_length != x.bits:</a:t>
            </a:r>
            <a:endParaRPr lang="en-US" sz="1150" dirty="0"/>
          </a:p>
          <a:p>
            <a:pPr indent="0" marL="0">
              <a:buNone/>
            </a:pPr>
            <a:r>
              <a:rPr lang="en-US" sz="1150" dirty="0">
                <a:solidFill>
                  <a:srgbClr val="F0A080"/>
                </a:solidFill>
                <a:latin typeface="Courier New" pitchFamily="34" charset="0"/>
                <a:ea typeface="Courier New" pitchFamily="34" charset="-122"/>
                <a:cs typeface="Courier New" pitchFamily="34" charset="-120"/>
              </a:rPr>
              <a:t>        cached = field.snoopbits(x.bits)</a:t>
            </a:r>
            <a:endParaRPr lang="en-US" sz="1150" dirty="0"/>
          </a:p>
          <a:p>
            <a:pPr indent="0" marL="0">
              <a:buNone/>
            </a:pPr>
            <a:r>
              <a:rPr lang="en-US" sz="1150" dirty="0">
                <a:solidFill>
                  <a:srgbClr val="F0A080"/>
                </a:solidFill>
                <a:latin typeface="Courier New" pitchFamily="34" charset="0"/>
                <a:ea typeface="Courier New" pitchFamily="34" charset="-122"/>
                <a:cs typeface="Courier New" pitchFamily="34" charset="-120"/>
              </a:rPr>
              <a:t>    if x.reverse_symbol == cached:</a:t>
            </a:r>
            <a:endParaRPr lang="en-US" sz="1150" dirty="0"/>
          </a:p>
          <a:p>
            <a:pPr indent="0" marL="0">
              <a:buNone/>
            </a:pPr>
            <a:r>
              <a:rPr lang="en-US" sz="1150" dirty="0">
                <a:solidFill>
                  <a:srgbClr val="F0A080"/>
                </a:solidFill>
                <a:latin typeface="Courier New" pitchFamily="34" charset="0"/>
                <a:ea typeface="Courier New" pitchFamily="34" charset="-122"/>
                <a:cs typeface="Courier New" pitchFamily="34" charset="-120"/>
              </a:rPr>
              <a:t>        return x.code</a:t>
            </a:r>
            <a:endParaRPr lang="en-US" sz="1150" dirty="0"/>
          </a:p>
        </p:txBody>
      </p:sp>
      <p:sp>
        <p:nvSpPr>
          <p:cNvPr id="7" name="Shape 5"/>
          <p:cNvSpPr/>
          <p:nvPr/>
        </p:nvSpPr>
        <p:spPr>
          <a:xfrm>
            <a:off x="6309360" y="2011680"/>
            <a:ext cx="5257800" cy="1691640"/>
          </a:xfrm>
          <a:prstGeom prst="roundRect">
            <a:avLst>
              <a:gd name="adj" fmla="val 3243"/>
            </a:avLst>
          </a:prstGeom>
          <a:solidFill>
            <a:srgbClr val="24282F"/>
          </a:solidFill>
          <a:ln/>
        </p:spPr>
      </p:sp>
      <p:sp>
        <p:nvSpPr>
          <p:cNvPr id="8" name="Text 6"/>
          <p:cNvSpPr txBox="1"/>
          <p:nvPr/>
        </p:nvSpPr>
        <p:spPr>
          <a:xfrm>
            <a:off x="6583680" y="2286000"/>
            <a:ext cx="4754880" cy="1188720"/>
          </a:xfrm>
          <a:prstGeom prst="rect">
            <a:avLst/>
          </a:prstGeom>
          <a:noFill/>
          <a:ln/>
        </p:spPr>
        <p:txBody>
          <a:bodyPr wrap="square" lIns="0" tIns="0" rIns="0" bIns="0" rtlCol="0" anchor="ctr"/>
          <a:lstStyle/>
          <a:p>
            <a:pPr indent="0" marL="0">
              <a:buNone/>
            </a:pPr>
            <a:r>
              <a:rPr lang="en-US" sz="1150" dirty="0">
                <a:solidFill>
                  <a:srgbClr val="8FD9C0"/>
                </a:solidFill>
                <a:latin typeface="Courier New" pitchFamily="34" charset="0"/>
                <a:ea typeface="Courier New" pitchFamily="34" charset="-122"/>
                <a:cs typeface="Courier New" pitchFamily="34" charset="-120"/>
              </a:rPr>
              <a:t>for bits in self._code_lengths:</a:t>
            </a:r>
            <a:endParaRPr lang="en-US" sz="1150" dirty="0"/>
          </a:p>
          <a:p>
            <a:pPr indent="0" marL="0">
              <a:buNone/>
            </a:pPr>
            <a:r>
              <a:rPr lang="en-US" sz="1150" dirty="0">
                <a:solidFill>
                  <a:srgbClr val="8FD9C0"/>
                </a:solidFill>
                <a:latin typeface="Courier New" pitchFamily="34" charset="0"/>
                <a:ea typeface="Courier New" pitchFamily="34" charset="-122"/>
                <a:cs typeface="Courier New" pitchFamily="34" charset="-120"/>
              </a:rPr>
              <a:t>    code = by_len[bits].get(snoopbits(bits))</a:t>
            </a:r>
            <a:endParaRPr lang="en-US" sz="1150" dirty="0"/>
          </a:p>
          <a:p>
            <a:pPr indent="0" marL="0">
              <a:buNone/>
            </a:pPr>
            <a:r>
              <a:rPr lang="en-US" sz="1150" dirty="0">
                <a:solidFill>
                  <a:srgbClr val="8FD9C0"/>
                </a:solidFill>
                <a:latin typeface="Courier New" pitchFamily="34" charset="0"/>
                <a:ea typeface="Courier New" pitchFamily="34" charset="-122"/>
                <a:cs typeface="Courier New" pitchFamily="34" charset="-120"/>
              </a:rPr>
              <a:t>    if code is not None:</a:t>
            </a:r>
            <a:endParaRPr lang="en-US" sz="1150" dirty="0"/>
          </a:p>
          <a:p>
            <a:pPr indent="0" marL="0">
              <a:buNone/>
            </a:pPr>
            <a:r>
              <a:rPr lang="en-US" sz="1150" dirty="0">
                <a:solidFill>
                  <a:srgbClr val="8FD9C0"/>
                </a:solidFill>
                <a:latin typeface="Courier New" pitchFamily="34" charset="0"/>
                <a:ea typeface="Courier New" pitchFamily="34" charset="-122"/>
                <a:cs typeface="Courier New" pitchFamily="34" charset="-120"/>
              </a:rPr>
              <a:t>        return code</a:t>
            </a:r>
            <a:endParaRPr lang="en-US" sz="1150" dirty="0"/>
          </a:p>
        </p:txBody>
      </p:sp>
      <p:sp>
        <p:nvSpPr>
          <p:cNvPr id="9" name="Text 7"/>
          <p:cNvSpPr txBox="1"/>
          <p:nvPr/>
        </p:nvSpPr>
        <p:spPr>
          <a:xfrm>
            <a:off x="594360" y="3794760"/>
            <a:ext cx="5577840" cy="274320"/>
          </a:xfrm>
          <a:prstGeom prst="rect">
            <a:avLst/>
          </a:prstGeom>
          <a:noFill/>
          <a:ln/>
        </p:spPr>
        <p:txBody>
          <a:bodyPr wrap="square" lIns="0" tIns="0" rIns="0" bIns="0" rtlCol="0" anchor="ctr"/>
          <a:lstStyle/>
          <a:p>
            <a:pPr indent="0" marL="0">
              <a:buNone/>
            </a:pPr>
            <a:r>
              <a:rPr lang="en-US" sz="1200" b="1" dirty="0">
                <a:solidFill>
                  <a:srgbClr val="E8552D"/>
                </a:solidFill>
                <a:latin typeface="Calibri" pitchFamily="34" charset="0"/>
                <a:ea typeface="Calibri" pitchFamily="34" charset="-122"/>
                <a:cs typeface="Calibri" pitchFamily="34" charset="-120"/>
              </a:rPr>
              <a:t>O(number of symbols) — up to 288</a:t>
            </a:r>
            <a:endParaRPr lang="en-US" sz="1200" dirty="0"/>
          </a:p>
        </p:txBody>
      </p:sp>
      <p:sp>
        <p:nvSpPr>
          <p:cNvPr id="10" name="Text 8"/>
          <p:cNvSpPr txBox="1"/>
          <p:nvPr/>
        </p:nvSpPr>
        <p:spPr>
          <a:xfrm>
            <a:off x="6309360" y="3794760"/>
            <a:ext cx="5257800" cy="274320"/>
          </a:xfrm>
          <a:prstGeom prst="rect">
            <a:avLst/>
          </a:prstGeom>
          <a:noFill/>
          <a:ln/>
        </p:spPr>
        <p:txBody>
          <a:bodyPr wrap="square" lIns="0" tIns="0" rIns="0" bIns="0" rtlCol="0" anchor="ctr"/>
          <a:lstStyle/>
          <a:p>
            <a:pPr indent="0" marL="0">
              <a:buNone/>
            </a:pPr>
            <a:r>
              <a:rPr lang="en-US" sz="1200" b="1" dirty="0">
                <a:solidFill>
                  <a:srgbClr val="2D9596"/>
                </a:solidFill>
                <a:latin typeface="Calibri" pitchFamily="34" charset="0"/>
                <a:ea typeface="Calibri" pitchFamily="34" charset="-122"/>
                <a:cs typeface="Calibri" pitchFamily="34" charset="-120"/>
              </a:rPr>
              <a:t>O(distinct code lengths) — at most 20</a:t>
            </a:r>
            <a:endParaRPr lang="en-US" sz="1200" dirty="0"/>
          </a:p>
        </p:txBody>
      </p:sp>
      <p:sp>
        <p:nvSpPr>
          <p:cNvPr id="11" name="Text 9"/>
          <p:cNvSpPr txBox="1"/>
          <p:nvPr/>
        </p:nvSpPr>
        <p:spPr>
          <a:xfrm>
            <a:off x="594360" y="4206240"/>
            <a:ext cx="10881360" cy="640080"/>
          </a:xfrm>
          <a:prstGeom prst="rect">
            <a:avLst/>
          </a:prstGeom>
          <a:noFill/>
          <a:ln/>
        </p:spPr>
        <p:txBody>
          <a:bodyPr wrap="square" lIns="0" tIns="0" rIns="0" bIns="0" rtlCol="0" anchor="ctr"/>
          <a:lstStyle/>
          <a:p>
            <a:pPr indent="0" marL="0">
              <a:lnSpc>
                <a:spcPct val="115000"/>
              </a:lnSpc>
              <a:buNone/>
            </a:pPr>
            <a:r>
              <a:rPr lang="en-US" sz="1350" dirty="0">
                <a:solidFill>
                  <a:srgbClr val="23272E"/>
                </a:solidFill>
                <a:latin typeface="Calibri" pitchFamily="34" charset="0"/>
                <a:ea typeface="Calibri" pitchFamily="34" charset="-122"/>
                <a:cs typeface="Calibri" pitchFamily="34" charset="-120"/>
              </a:rPr>
              <a:t>The table is sorted by (bits, code) — canonical Huffman order — so the scan is exactly equivalent to probing each code length in ascending order. We precompute one dict per code length at table-construction time.</a:t>
            </a:r>
            <a:endParaRPr lang="en-US" sz="1350" dirty="0"/>
          </a:p>
        </p:txBody>
      </p:sp>
      <p:sp>
        <p:nvSpPr>
          <p:cNvPr id="12" name="Text 10"/>
          <p:cNvSpPr txBox="1"/>
          <p:nvPr/>
        </p:nvSpPr>
        <p:spPr>
          <a:xfrm>
            <a:off x="594360" y="5029200"/>
            <a:ext cx="1088136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The source file's own docstring admits it: “there is certainly some room for improvement in the Huffman bit-matcher.”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3"/>
        </a:solidFill>
      </p:bgPr>
    </p:bg>
    <p:spTree>
      <p:nvGrpSpPr>
        <p:cNvPr id="1" name=""/>
        <p:cNvGrpSpPr/>
        <p:nvPr/>
      </p:nvGrpSpPr>
      <p:grpSpPr>
        <a:xfrm>
          <a:off x="0" y="0"/>
          <a:ext cx="0" cy="0"/>
          <a:chOff x="0" y="0"/>
          <a:chExt cx="0" cy="0"/>
        </a:xfrm>
      </p:grpSpPr>
      <p:sp>
        <p:nvSpPr>
          <p:cNvPr id="2" name="Text 0"/>
          <p:cNvSpPr txBox="1"/>
          <p:nvPr/>
        </p:nvSpPr>
        <p:spPr>
          <a:xfrm>
            <a:off x="594360" y="91440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We got this one wrong the first time</a:t>
            </a:r>
            <a:endParaRPr lang="en-US" sz="3000" dirty="0"/>
          </a:p>
        </p:txBody>
      </p:sp>
      <p:sp>
        <p:nvSpPr>
          <p:cNvPr id="3" name="Shape 1"/>
          <p:cNvSpPr/>
          <p:nvPr/>
        </p:nvSpPr>
        <p:spPr>
          <a:xfrm>
            <a:off x="594360" y="1920240"/>
            <a:ext cx="3200400" cy="1371600"/>
          </a:xfrm>
          <a:prstGeom prst="roundRect">
            <a:avLst>
              <a:gd name="adj" fmla="val 5333"/>
            </a:avLst>
          </a:prstGeom>
          <a:solidFill>
            <a:srgbClr val="24282F"/>
          </a:solidFill>
          <a:ln w="12700">
            <a:solidFill>
              <a:srgbClr val="343A43"/>
            </a:solidFill>
            <a:prstDash val="solid"/>
          </a:ln>
        </p:spPr>
      </p:sp>
      <p:sp>
        <p:nvSpPr>
          <p:cNvPr id="4" name="Text 2"/>
          <p:cNvSpPr txBox="1"/>
          <p:nvPr/>
        </p:nvSpPr>
        <p:spPr>
          <a:xfrm>
            <a:off x="594360" y="2148840"/>
            <a:ext cx="3200400" cy="640080"/>
          </a:xfrm>
          <a:prstGeom prst="rect">
            <a:avLst/>
          </a:prstGeom>
          <a:noFill/>
          <a:ln/>
        </p:spPr>
        <p:txBody>
          <a:bodyPr wrap="square" lIns="0" tIns="0" rIns="0" bIns="0" rtlCol="0" anchor="ctr"/>
          <a:lstStyle/>
          <a:p>
            <a:pPr algn="ctr" indent="0" marL="0">
              <a:buNone/>
            </a:pPr>
            <a:r>
              <a:rPr lang="en-US" sz="3400" b="1" dirty="0">
                <a:solidFill>
                  <a:srgbClr val="9AA0A6"/>
                </a:solidFill>
                <a:latin typeface="Cambria" pitchFamily="34" charset="0"/>
                <a:ea typeface="Cambria" pitchFamily="34" charset="-122"/>
                <a:cs typeface="Cambria" pitchFamily="34" charset="-120"/>
              </a:rPr>
              <a:t>1.21×</a:t>
            </a:r>
            <a:endParaRPr lang="en-US" sz="3400" dirty="0"/>
          </a:p>
        </p:txBody>
      </p:sp>
      <p:sp>
        <p:nvSpPr>
          <p:cNvPr id="5" name="Text 3"/>
          <p:cNvSpPr txBox="1"/>
          <p:nvPr/>
        </p:nvSpPr>
        <p:spPr>
          <a:xfrm>
            <a:off x="594360" y="2743200"/>
            <a:ext cx="3200400" cy="365760"/>
          </a:xfrm>
          <a:prstGeom prst="rect">
            <a:avLst/>
          </a:prstGeom>
          <a:noFill/>
          <a:ln/>
        </p:spPr>
        <p:txBody>
          <a:bodyPr wrap="square" lIns="0" tIns="0" rIns="0" bIns="0" rtlCol="0" anchor="ctr"/>
          <a:lstStyle/>
          <a:p>
            <a:pPr algn="ctr" indent="0" marL="0">
              <a:buNone/>
            </a:pPr>
            <a:r>
              <a:rPr lang="en-US" sz="1200" dirty="0">
                <a:solidFill>
                  <a:srgbClr val="9AA0A6"/>
                </a:solidFill>
                <a:latin typeface="Calibri" pitchFamily="34" charset="0"/>
                <a:ea typeface="Calibri" pitchFamily="34" charset="-122"/>
                <a:cs typeface="Calibri" pitchFamily="34" charset="-120"/>
              </a:rPr>
              <a:t>after fixing Huffman only</a:t>
            </a:r>
            <a:endParaRPr lang="en-US" sz="1200" dirty="0"/>
          </a:p>
        </p:txBody>
      </p:sp>
      <p:sp>
        <p:nvSpPr>
          <p:cNvPr id="6" name="Text 4"/>
          <p:cNvSpPr txBox="1"/>
          <p:nvPr/>
        </p:nvSpPr>
        <p:spPr>
          <a:xfrm>
            <a:off x="4023360" y="2286000"/>
            <a:ext cx="731520" cy="640080"/>
          </a:xfrm>
          <a:prstGeom prst="rect">
            <a:avLst/>
          </a:prstGeom>
          <a:noFill/>
          <a:ln/>
        </p:spPr>
        <p:txBody>
          <a:bodyPr wrap="square" lIns="0" tIns="0" rIns="0" bIns="0" rtlCol="0" anchor="ctr"/>
          <a:lstStyle/>
          <a:p>
            <a:pPr algn="ctr" indent="0" marL="0">
              <a:buNone/>
            </a:pPr>
            <a:r>
              <a:rPr lang="en-US" sz="3200" dirty="0">
                <a:solidFill>
                  <a:srgbClr val="E8552D"/>
                </a:solidFill>
                <a:latin typeface="Calibri" pitchFamily="34" charset="0"/>
                <a:ea typeface="Calibri" pitchFamily="34" charset="-122"/>
                <a:cs typeface="Calibri" pitchFamily="34" charset="-120"/>
              </a:rPr>
              <a:t>→</a:t>
            </a:r>
            <a:endParaRPr lang="en-US" sz="3200" dirty="0"/>
          </a:p>
        </p:txBody>
      </p:sp>
      <p:sp>
        <p:nvSpPr>
          <p:cNvPr id="7" name="Shape 5"/>
          <p:cNvSpPr/>
          <p:nvPr/>
        </p:nvSpPr>
        <p:spPr>
          <a:xfrm>
            <a:off x="4846320" y="1920240"/>
            <a:ext cx="3200400" cy="1371600"/>
          </a:xfrm>
          <a:prstGeom prst="roundRect">
            <a:avLst>
              <a:gd name="adj" fmla="val 5333"/>
            </a:avLst>
          </a:prstGeom>
          <a:solidFill>
            <a:srgbClr val="2A2119"/>
          </a:solidFill>
          <a:ln w="12700">
            <a:solidFill>
              <a:srgbClr val="E8552D"/>
            </a:solidFill>
            <a:prstDash val="solid"/>
          </a:ln>
        </p:spPr>
      </p:sp>
      <p:sp>
        <p:nvSpPr>
          <p:cNvPr id="8" name="Text 6"/>
          <p:cNvSpPr txBox="1"/>
          <p:nvPr/>
        </p:nvSpPr>
        <p:spPr>
          <a:xfrm>
            <a:off x="4846320" y="2148840"/>
            <a:ext cx="3200400" cy="640080"/>
          </a:xfrm>
          <a:prstGeom prst="rect">
            <a:avLst/>
          </a:prstGeom>
          <a:noFill/>
          <a:ln/>
        </p:spPr>
        <p:txBody>
          <a:bodyPr wrap="square" lIns="0" tIns="0" rIns="0" bIns="0" rtlCol="0" anchor="ctr"/>
          <a:lstStyle/>
          <a:p>
            <a:pPr algn="ctr" indent="0" marL="0">
              <a:buNone/>
            </a:pPr>
            <a:r>
              <a:rPr lang="en-US" sz="3400" b="1" dirty="0">
                <a:solidFill>
                  <a:srgbClr val="E8552D"/>
                </a:solidFill>
                <a:latin typeface="Cambria" pitchFamily="34" charset="0"/>
                <a:ea typeface="Cambria" pitchFamily="34" charset="-122"/>
                <a:cs typeface="Cambria" pitchFamily="34" charset="-120"/>
              </a:rPr>
              <a:t>1.44×</a:t>
            </a:r>
            <a:endParaRPr lang="en-US" sz="3400" dirty="0"/>
          </a:p>
        </p:txBody>
      </p:sp>
      <p:sp>
        <p:nvSpPr>
          <p:cNvPr id="9" name="Text 7"/>
          <p:cNvSpPr txBox="1"/>
          <p:nvPr/>
        </p:nvSpPr>
        <p:spPr>
          <a:xfrm>
            <a:off x="4846320" y="2743200"/>
            <a:ext cx="3200400" cy="365760"/>
          </a:xfrm>
          <a:prstGeom prst="rect">
            <a:avLst/>
          </a:prstGeom>
          <a:noFill/>
          <a:ln/>
        </p:spPr>
        <p:txBody>
          <a:bodyPr wrap="square" lIns="0" tIns="0" rIns="0" bIns="0" rtlCol="0" anchor="ctr"/>
          <a:lstStyle/>
          <a:p>
            <a:pPr algn="ctr" indent="0" marL="0">
              <a:buNone/>
            </a:pPr>
            <a:r>
              <a:rPr lang="en-US" sz="1200" dirty="0">
                <a:solidFill>
                  <a:srgbClr val="E8552D"/>
                </a:solidFill>
                <a:latin typeface="Calibri" pitchFamily="34" charset="0"/>
                <a:ea typeface="Calibri" pitchFamily="34" charset="-122"/>
                <a:cs typeface="Calibri" pitchFamily="34" charset="-120"/>
              </a:rPr>
              <a:t>after fixing the bzip2 stages</a:t>
            </a:r>
            <a:endParaRPr lang="en-US" sz="1200" dirty="0"/>
          </a:p>
        </p:txBody>
      </p:sp>
      <p:sp>
        <p:nvSpPr>
          <p:cNvPr id="10" name="Text 8"/>
          <p:cNvSpPr txBox="1"/>
          <p:nvPr/>
        </p:nvSpPr>
        <p:spPr>
          <a:xfrm>
            <a:off x="594360" y="3657600"/>
            <a:ext cx="7498080" cy="731520"/>
          </a:xfrm>
          <a:prstGeom prst="rect">
            <a:avLst/>
          </a:prstGeom>
          <a:noFill/>
          <a:ln/>
        </p:spPr>
        <p:txBody>
          <a:bodyPr wrap="square" lIns="0" tIns="0" rIns="0" bIns="0" rtlCol="0" anchor="ctr"/>
          <a:lstStyle/>
          <a:p>
            <a:pPr indent="0" marL="0">
              <a:buNone/>
            </a:pPr>
            <a:r>
              <a:rPr lang="en-US" sz="1400" dirty="0">
                <a:solidFill>
                  <a:srgbClr val="C8CCD2"/>
                </a:solidFill>
                <a:latin typeface="Calibri" pitchFamily="34" charset="0"/>
                <a:ea typeface="Calibri" pitchFamily="34" charset="-122"/>
                <a:cs typeface="Calibri" pitchFamily="34" charset="-120"/>
              </a:rPr>
              <a:t>We assumed a decompressor is dominated by entropy decoding, fixed the Huffman scan, hit 1.21×, and had already cleared the 7 % requirement.</a:t>
            </a:r>
            <a:endParaRPr lang="en-US" sz="1400" dirty="0"/>
          </a:p>
        </p:txBody>
      </p:sp>
      <p:sp>
        <p:nvSpPr>
          <p:cNvPr id="11" name="Text 9"/>
          <p:cNvSpPr txBox="1"/>
          <p:nvPr/>
        </p:nvSpPr>
        <p:spPr>
          <a:xfrm>
            <a:off x="594360" y="4434840"/>
            <a:ext cx="7498080" cy="10058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profile disagreed. The file is a .bz2, so Huffman is one of FOUR pipeline stages — and the move-to-front and inverse-BWT stages were still untouched. Re-profiling after the first fix, instead of declaring victory, produced the remaining 19 %.</a:t>
            </a:r>
            <a:endParaRPr lang="en-US" sz="1400" dirty="0"/>
          </a:p>
        </p:txBody>
      </p:sp>
      <p:sp>
        <p:nvSpPr>
          <p:cNvPr id="12" name="Shape 10"/>
          <p:cNvSpPr/>
          <p:nvPr/>
        </p:nvSpPr>
        <p:spPr>
          <a:xfrm>
            <a:off x="8503920" y="1920240"/>
            <a:ext cx="3063240" cy="3108960"/>
          </a:xfrm>
          <a:prstGeom prst="roundRect">
            <a:avLst>
              <a:gd name="adj" fmla="val 2388"/>
            </a:avLst>
          </a:prstGeom>
          <a:solidFill>
            <a:srgbClr val="24282F"/>
          </a:solidFill>
          <a:ln w="12700">
            <a:solidFill>
              <a:srgbClr val="343A43"/>
            </a:solidFill>
            <a:prstDash val="solid"/>
          </a:ln>
        </p:spPr>
      </p:sp>
      <p:sp>
        <p:nvSpPr>
          <p:cNvPr id="13" name="Text 11"/>
          <p:cNvSpPr txBox="1"/>
          <p:nvPr/>
        </p:nvSpPr>
        <p:spPr>
          <a:xfrm>
            <a:off x="8778240" y="2148840"/>
            <a:ext cx="2560320" cy="274320"/>
          </a:xfrm>
          <a:prstGeom prst="rect">
            <a:avLst/>
          </a:prstGeom>
          <a:noFill/>
          <a:ln/>
        </p:spPr>
        <p:txBody>
          <a:bodyPr wrap="square" lIns="0" tIns="0" rIns="0" bIns="0" rtlCol="0" anchor="ctr"/>
          <a:lstStyle/>
          <a:p>
            <a:pPr indent="0" marL="0">
              <a:buNone/>
            </a:pPr>
            <a:r>
              <a:rPr lang="en-US" sz="1100" b="1" spc="150" kern="0" dirty="0">
                <a:solidFill>
                  <a:srgbClr val="E8552D"/>
                </a:solidFill>
                <a:latin typeface="Calibri" pitchFamily="34" charset="0"/>
                <a:ea typeface="Calibri" pitchFamily="34" charset="-122"/>
                <a:cs typeface="Calibri" pitchFamily="34" charset="-120"/>
              </a:rPr>
              <a:t>The bzip2 pipeline</a:t>
            </a:r>
            <a:endParaRPr lang="en-US" sz="1100" dirty="0"/>
          </a:p>
        </p:txBody>
      </p:sp>
      <p:sp>
        <p:nvSpPr>
          <p:cNvPr id="14" name="Text 12"/>
          <p:cNvSpPr txBox="1"/>
          <p:nvPr/>
        </p:nvSpPr>
        <p:spPr>
          <a:xfrm>
            <a:off x="8778240" y="2514600"/>
            <a:ext cx="2560320" cy="1280160"/>
          </a:xfrm>
          <a:prstGeom prst="rect">
            <a:avLst/>
          </a:prstGeom>
          <a:noFill/>
          <a:ln/>
        </p:spPr>
        <p:txBody>
          <a:bodyPr wrap="square" lIns="0" tIns="0" rIns="0" bIns="0" rtlCol="0" anchor="ctr"/>
          <a:lstStyle/>
          <a:p>
            <a:pPr indent="0" marL="0">
              <a:lnSpc>
                <a:spcPct val="140000"/>
              </a:lnSpc>
              <a:buNone/>
            </a:pPr>
            <a:r>
              <a:rPr lang="en-US" sz="1350" dirty="0">
                <a:solidFill>
                  <a:srgbClr val="C8CCD2"/>
                </a:solidFill>
                <a:latin typeface="Calibri" pitchFamily="34" charset="0"/>
                <a:ea typeface="Calibri" pitchFamily="34" charset="-122"/>
                <a:cs typeface="Calibri" pitchFamily="34" charset="-120"/>
              </a:rPr>
              <a:t>1.  Huffman decode</a:t>
            </a:r>
            <a:endParaRPr lang="en-US" sz="1350" dirty="0"/>
          </a:p>
          <a:p>
            <a:pPr indent="0" marL="0">
              <a:lnSpc>
                <a:spcPct val="140000"/>
              </a:lnSpc>
              <a:buNone/>
            </a:pPr>
            <a:r>
              <a:rPr lang="en-US" sz="1350" dirty="0">
                <a:solidFill>
                  <a:srgbClr val="C8CCD2"/>
                </a:solidFill>
                <a:latin typeface="Calibri" pitchFamily="34" charset="0"/>
                <a:ea typeface="Calibri" pitchFamily="34" charset="-122"/>
                <a:cs typeface="Calibri" pitchFamily="34" charset="-120"/>
              </a:rPr>
              <a:t>2.  Move-to-front + RLE</a:t>
            </a:r>
            <a:endParaRPr lang="en-US" sz="1350" dirty="0"/>
          </a:p>
          <a:p>
            <a:pPr indent="0" marL="0">
              <a:lnSpc>
                <a:spcPct val="140000"/>
              </a:lnSpc>
              <a:buNone/>
            </a:pPr>
            <a:r>
              <a:rPr lang="en-US" sz="1350" dirty="0">
                <a:solidFill>
                  <a:srgbClr val="C8CCD2"/>
                </a:solidFill>
                <a:latin typeface="Calibri" pitchFamily="34" charset="0"/>
                <a:ea typeface="Calibri" pitchFamily="34" charset="-122"/>
                <a:cs typeface="Calibri" pitchFamily="34" charset="-120"/>
              </a:rPr>
              <a:t>3.  Inverse BWT</a:t>
            </a:r>
            <a:endParaRPr lang="en-US" sz="1350" dirty="0"/>
          </a:p>
          <a:p>
            <a:pPr indent="0" marL="0">
              <a:lnSpc>
                <a:spcPct val="140000"/>
              </a:lnSpc>
              <a:buNone/>
            </a:pPr>
            <a:r>
              <a:rPr lang="en-US" sz="1350" dirty="0">
                <a:solidFill>
                  <a:srgbClr val="C8CCD2"/>
                </a:solidFill>
                <a:latin typeface="Calibri" pitchFamily="34" charset="0"/>
                <a:ea typeface="Calibri" pitchFamily="34" charset="-122"/>
                <a:cs typeface="Calibri" pitchFamily="34" charset="-120"/>
              </a:rPr>
              <a:t>4.  Final RLE</a:t>
            </a:r>
            <a:endParaRPr lang="en-US" sz="1350" dirty="0"/>
          </a:p>
        </p:txBody>
      </p:sp>
      <p:sp>
        <p:nvSpPr>
          <p:cNvPr id="15" name="Text 13"/>
          <p:cNvSpPr txBox="1"/>
          <p:nvPr/>
        </p:nvSpPr>
        <p:spPr>
          <a:xfrm>
            <a:off x="8778240" y="4160520"/>
            <a:ext cx="2560320" cy="548640"/>
          </a:xfrm>
          <a:prstGeom prst="rect">
            <a:avLst/>
          </a:prstGeom>
          <a:noFill/>
          <a:ln/>
        </p:spPr>
        <p:txBody>
          <a:bodyPr wrap="square" lIns="0" tIns="0" rIns="0" bIns="0" rtlCol="0" anchor="ctr"/>
          <a:lstStyle/>
          <a:p>
            <a:pPr indent="0" marL="0">
              <a:buNone/>
            </a:pPr>
            <a:r>
              <a:rPr lang="en-US" sz="1200" i="1" dirty="0">
                <a:solidFill>
                  <a:srgbClr val="E8552D"/>
                </a:solidFill>
                <a:latin typeface="Calibri" pitchFamily="34" charset="0"/>
                <a:ea typeface="Calibri" pitchFamily="34" charset="-122"/>
                <a:cs typeface="Calibri" pitchFamily="34" charset="-120"/>
              </a:rPr>
              <a:t>We had optimized only stage 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BENCHMARK 2 — RESULTS</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pyflate: 1.44× faster, md5-verified</a:t>
            </a:r>
            <a:endParaRPr lang="en-US" sz="3200" dirty="0"/>
          </a:p>
        </p:txBody>
      </p:sp>
      <p:sp>
        <p:nvSpPr>
          <p:cNvPr id="4" name="Text 2"/>
          <p:cNvSpPr txBox="1"/>
          <p:nvPr/>
        </p:nvSpPr>
        <p:spPr>
          <a:xfrm>
            <a:off x="594360" y="1371600"/>
            <a:ext cx="2377440" cy="868680"/>
          </a:xfrm>
          <a:prstGeom prst="rect">
            <a:avLst/>
          </a:prstGeom>
          <a:noFill/>
          <a:ln/>
        </p:spPr>
        <p:txBody>
          <a:bodyPr wrap="square" lIns="0" tIns="0" rIns="0" bIns="0" rtlCol="0" anchor="ctr"/>
          <a:lstStyle/>
          <a:p>
            <a:pPr indent="0" marL="0">
              <a:buNone/>
            </a:pPr>
            <a:r>
              <a:rPr lang="en-US" sz="5200" b="1" dirty="0">
                <a:solidFill>
                  <a:srgbClr val="2D9596"/>
                </a:solidFill>
                <a:latin typeface="Cambria" pitchFamily="34" charset="0"/>
                <a:ea typeface="Cambria" pitchFamily="34" charset="-122"/>
                <a:cs typeface="Cambria" pitchFamily="34" charset="-120"/>
              </a:rPr>
              <a:t>1.44×</a:t>
            </a:r>
            <a:endParaRPr lang="en-US" sz="5200" dirty="0"/>
          </a:p>
        </p:txBody>
      </p:sp>
      <p:sp>
        <p:nvSpPr>
          <p:cNvPr id="5" name="Text 3"/>
          <p:cNvSpPr txBox="1"/>
          <p:nvPr/>
        </p:nvSpPr>
        <p:spPr>
          <a:xfrm>
            <a:off x="594360" y="2240280"/>
            <a:ext cx="2560320" cy="64008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3.12 s → 2.18 s</a:t>
            </a:r>
            <a:endParaRPr lang="en-US" sz="1300" dirty="0"/>
          </a:p>
          <a:p>
            <a:pPr indent="0" marL="0">
              <a:buNone/>
            </a:pPr>
            <a:r>
              <a:rPr lang="en-US" sz="1300" dirty="0">
                <a:solidFill>
                  <a:srgbClr val="6B7280"/>
                </a:solidFill>
                <a:latin typeface="Calibri" pitchFamily="34" charset="0"/>
                <a:ea typeface="Calibri" pitchFamily="34" charset="-122"/>
                <a:cs typeface="Calibri" pitchFamily="34" charset="-120"/>
              </a:rPr>
              <a:t>30.1 % faster</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337560" y="1371600"/>
          <a:ext cx="4572000" cy="914400"/>
        </p:xfrm>
        <a:graphic>
          <a:graphicData uri="http://schemas.openxmlformats.org/drawingml/2006/table">
            <a:tbl>
              <a:tblPr/>
              <a:tblGrid>
                <a:gridCol w="1600200"/>
                <a:gridCol w="1097280"/>
                <a:gridCol w="1097280"/>
                <a:gridCol w="1234440"/>
              </a:tblGrid>
              <a:tr h="274320">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before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after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change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Cycles</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37.92 B</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26.48 B</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1.43× fewer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Instructions</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84.21 B</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59.63 B</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1.41× fewer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IPC</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2.20</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2.25</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 flat</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Cache references</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49.6 M</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26.5 M</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1.87× fewer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bl>
          </a:graphicData>
        </a:graphic>
      </p:graphicFrame>
      <p:sp>
        <p:nvSpPr>
          <p:cNvPr id="7" name="Shape 4"/>
          <p:cNvSpPr/>
          <p:nvPr/>
        </p:nvSpPr>
        <p:spPr>
          <a:xfrm>
            <a:off x="8183880" y="1371600"/>
            <a:ext cx="3383280" cy="1920240"/>
          </a:xfrm>
          <a:prstGeom prst="roundRect">
            <a:avLst>
              <a:gd name="adj" fmla="val 2857"/>
            </a:avLst>
          </a:prstGeom>
          <a:solidFill>
            <a:srgbClr val="EAF5F5"/>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8" name="Text 5"/>
          <p:cNvSpPr txBox="1"/>
          <p:nvPr/>
        </p:nvSpPr>
        <p:spPr>
          <a:xfrm>
            <a:off x="8412480" y="1554480"/>
            <a:ext cx="2926080" cy="274320"/>
          </a:xfrm>
          <a:prstGeom prst="rect">
            <a:avLst/>
          </a:prstGeom>
          <a:noFill/>
          <a:ln/>
        </p:spPr>
        <p:txBody>
          <a:bodyPr wrap="square" lIns="0" tIns="0" rIns="0" bIns="0" rtlCol="0" anchor="ctr"/>
          <a:lstStyle/>
          <a:p>
            <a:pPr indent="0" marL="0">
              <a:buNone/>
            </a:pPr>
            <a:r>
              <a:rPr lang="en-US" sz="1500" b="1" dirty="0">
                <a:solidFill>
                  <a:srgbClr val="23272E"/>
                </a:solidFill>
                <a:latin typeface="Cambria" pitchFamily="34" charset="0"/>
                <a:ea typeface="Cambria" pitchFamily="34" charset="-122"/>
                <a:cs typeface="Cambria" pitchFamily="34" charset="-120"/>
              </a:rPr>
              <a:t>Same factor, twice</a:t>
            </a:r>
            <a:endParaRPr lang="en-US" sz="1500" dirty="0"/>
          </a:p>
        </p:txBody>
      </p:sp>
      <p:sp>
        <p:nvSpPr>
          <p:cNvPr id="9" name="Text 6"/>
          <p:cNvSpPr txBox="1"/>
          <p:nvPr/>
        </p:nvSpPr>
        <p:spPr>
          <a:xfrm>
            <a:off x="8412480" y="1874520"/>
            <a:ext cx="2926080" cy="1280160"/>
          </a:xfrm>
          <a:prstGeom prst="rect">
            <a:avLst/>
          </a:prstGeom>
          <a:noFill/>
          <a:ln/>
        </p:spPr>
        <p:txBody>
          <a:bodyPr wrap="square" lIns="0" tIns="0" rIns="0" bIns="0" rtlCol="0" anchor="ctr"/>
          <a:lstStyle/>
          <a:p>
            <a:pPr indent="0" marL="0">
              <a:buNone/>
            </a:pPr>
            <a:r>
              <a:rPr lang="en-US" sz="1200" dirty="0">
                <a:solidFill>
                  <a:srgbClr val="23272E"/>
                </a:solidFill>
                <a:latin typeface="Calibri" pitchFamily="34" charset="0"/>
                <a:ea typeface="Calibri" pitchFamily="34" charset="-122"/>
                <a:cs typeface="Calibri" pitchFamily="34" charset="-120"/>
              </a:rPr>
              <a:t>Cycles ÷1.43 and instructions ÷1.41 — the SAME number — with IPC flat at 2.2. Textbook removed work.</a:t>
            </a:r>
            <a:endParaRPr lang="en-US" sz="1200" dirty="0"/>
          </a:p>
        </p:txBody>
      </p:sp>
      <p:sp>
        <p:nvSpPr>
          <p:cNvPr id="10" name="Text 7"/>
          <p:cNvSpPr txBox="1"/>
          <p:nvPr/>
        </p:nvSpPr>
        <p:spPr>
          <a:xfrm>
            <a:off x="594360" y="3611880"/>
            <a:ext cx="10881360" cy="320040"/>
          </a:xfrm>
          <a:prstGeom prst="rect">
            <a:avLst/>
          </a:prstGeom>
          <a:noFill/>
          <a:ln/>
        </p:spPr>
        <p:txBody>
          <a:bodyPr wrap="square" lIns="0" tIns="0" rIns="0" bIns="0" rtlCol="0" anchor="ctr"/>
          <a:lstStyle/>
          <a:p>
            <a:pPr indent="0" marL="0">
              <a:buNone/>
            </a:pPr>
            <a:r>
              <a:rPr lang="en-US" sz="1700" b="1" dirty="0">
                <a:solidFill>
                  <a:srgbClr val="23272E"/>
                </a:solidFill>
                <a:latin typeface="Cambria" pitchFamily="34" charset="0"/>
                <a:ea typeface="Cambria" pitchFamily="34" charset="-122"/>
                <a:cs typeface="Cambria" pitchFamily="34" charset="-120"/>
              </a:rPr>
              <a:t>What disappeared from the profile</a:t>
            </a:r>
            <a:endParaRPr lang="en-US" sz="17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94360" y="3977640"/>
          <a:ext cx="10927080" cy="914400"/>
        </p:xfrm>
        <a:graphic>
          <a:graphicData uri="http://schemas.openxmlformats.org/drawingml/2006/table">
            <a:tbl>
              <a:tblPr/>
              <a:tblGrid>
                <a:gridCol w="2011680"/>
                <a:gridCol w="1051560"/>
                <a:gridCol w="960120"/>
                <a:gridCol w="6903720"/>
              </a:tblGrid>
              <a:tr h="274320">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function</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before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after</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b="1" dirty="0">
                          <a:solidFill>
                            <a:srgbClr val="23272E"/>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_mask</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5.9 %</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gone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655,017 calls recomputing (1&lt;&lt;n)-1 — precomputed table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move_to_front</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9.8 %</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3.5 %</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rebuilt a 256-entry list per symbol → one pop/insert</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find_next_symbol</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15.4 %</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16.3 %</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c>
                  <a:txBody>
                    <a:bodyPr/>
                    <a:lstStyle/>
                    <a:p>
                      <a:pPr indent="0" marL="0">
                        <a:buNone/>
                      </a:pPr>
                      <a:r>
                        <a:rPr lang="en-US" sz="1150" dirty="0">
                          <a:solidFill>
                            <a:srgbClr val="23272E"/>
                          </a:solidFill>
                          <a:latin typeface="Calibri" pitchFamily="34" charset="0"/>
                          <a:ea typeface="Calibri" pitchFamily="34" charset="-122"/>
                          <a:cs typeface="Calibri" pitchFamily="34" charset="-120"/>
                        </a:rPr>
                        <a:t>per-call cost fell; still intrinsic — every symbol decodes once</a:t>
                      </a:r>
                      <a:endParaRPr lang="en-US" sz="1150" dirty="0">
                        <a:latin typeface="Calibri" charset="0"/>
                        <a:ea typeface="Calibri" charset="0"/>
                        <a:cs typeface="Calibri" charset="0"/>
                      </a:endParaRPr>
                    </a:p>
                  </a:txBody>
                  <a:tcPr marL="91440" marR="91440" marT="45720" marB="45720" anchor="ctr">
                    <a:lnL w="12700" cap="flat" cmpd="sng" algn="ctr">
                      <a:solidFill>
                        <a:srgbClr val="E3E3DF"/>
                      </a:solidFill>
                      <a:prstDash val="solid"/>
                      <a:round/>
                      <a:headEnd type="none" w="med" len="med"/>
                      <a:tailEnd type="none" w="med" len="med"/>
                    </a:lnL>
                    <a:lnR w="12700" cap="flat" cmpd="sng" algn="ctr">
                      <a:solidFill>
                        <a:srgbClr val="E3E3DF"/>
                      </a:solidFill>
                      <a:prstDash val="solid"/>
                      <a:round/>
                      <a:headEnd type="none" w="med" len="med"/>
                      <a:tailEnd type="none" w="med" len="med"/>
                    </a:lnR>
                    <a:lnT w="12700" cap="flat" cmpd="sng" algn="ctr">
                      <a:solidFill>
                        <a:srgbClr val="E3E3DF"/>
                      </a:solidFill>
                      <a:prstDash val="solid"/>
                      <a:round/>
                      <a:headEnd type="none" w="med" len="med"/>
                      <a:tailEnd type="none" w="med" len="med"/>
                    </a:lnT>
                    <a:lnB w="12700" cap="flat" cmpd="sng" algn="ctr">
                      <a:solidFill>
                        <a:srgbClr val="E3E3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THE CASE FOR HARDWARE</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Optimizing changed the shape of the problem</a:t>
            </a:r>
            <a:endParaRPr lang="en-US" sz="3200" dirty="0"/>
          </a:p>
        </p:txBody>
      </p:sp>
      <p:sp>
        <p:nvSpPr>
          <p:cNvPr id="4" name="Text 2"/>
          <p:cNvSpPr txBox="1"/>
          <p:nvPr/>
        </p:nvSpPr>
        <p:spPr>
          <a:xfrm>
            <a:off x="594360" y="1417320"/>
            <a:ext cx="10881360" cy="365760"/>
          </a:xfrm>
          <a:prstGeom prst="rect">
            <a:avLst/>
          </a:prstGeom>
          <a:noFill/>
          <a:ln/>
        </p:spPr>
        <p:txBody>
          <a:bodyPr wrap="square" lIns="0" tIns="0" rIns="0" bIns="0" rtlCol="0" anchor="ctr"/>
          <a:lstStyle/>
          <a:p>
            <a:pPr indent="0" marL="0">
              <a:lnSpc>
                <a:spcPct val="115000"/>
              </a:lnSpc>
              <a:buNone/>
            </a:pPr>
            <a:r>
              <a:rPr lang="en-US" sz="1500" dirty="0">
                <a:solidFill>
                  <a:srgbClr val="23272E"/>
                </a:solidFill>
                <a:latin typeface="Calibri" pitchFamily="34" charset="0"/>
                <a:ea typeface="Calibri" pitchFamily="34" charset="-122"/>
                <a:cs typeface="Calibri" pitchFamily="34" charset="-120"/>
              </a:rPr>
              <a:t>Software optimization did not just make raytrace faster — it changed what raytrace is made of.</a:t>
            </a:r>
            <a:endParaRPr lang="en-US" sz="1500" dirty="0"/>
          </a:p>
        </p:txBody>
      </p:sp>
      <p:sp>
        <p:nvSpPr>
          <p:cNvPr id="5" name="Shape 3"/>
          <p:cNvSpPr/>
          <p:nvPr/>
        </p:nvSpPr>
        <p:spPr>
          <a:xfrm>
            <a:off x="594360" y="1965960"/>
            <a:ext cx="5257800" cy="2286000"/>
          </a:xfrm>
          <a:prstGeom prst="roundRect">
            <a:avLst>
              <a:gd name="adj" fmla="val 2400"/>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6" name="Text 4"/>
          <p:cNvSpPr txBox="1"/>
          <p:nvPr/>
        </p:nvSpPr>
        <p:spPr>
          <a:xfrm>
            <a:off x="868680" y="2148840"/>
            <a:ext cx="4663440" cy="274320"/>
          </a:xfrm>
          <a:prstGeom prst="rect">
            <a:avLst/>
          </a:prstGeom>
          <a:noFill/>
          <a:ln/>
        </p:spPr>
        <p:txBody>
          <a:bodyPr wrap="square" lIns="0" tIns="0" rIns="0" bIns="0" rtlCol="0" anchor="ctr"/>
          <a:lstStyle/>
          <a:p>
            <a:pPr indent="0" marL="0">
              <a:buNone/>
            </a:pPr>
            <a:r>
              <a:rPr lang="en-US" sz="1200" b="1" spc="100" kern="0" dirty="0">
                <a:solidFill>
                  <a:srgbClr val="6B7280"/>
                </a:solidFill>
                <a:latin typeface="Calibri" pitchFamily="34" charset="0"/>
                <a:ea typeface="Calibri" pitchFamily="34" charset="-122"/>
                <a:cs typeface="Calibri" pitchFamily="34" charset="-120"/>
              </a:rPr>
              <a:t>Sphere.intersectionTime</a:t>
            </a:r>
            <a:endParaRPr lang="en-US" sz="1200" dirty="0"/>
          </a:p>
        </p:txBody>
      </p:sp>
      <p:sp>
        <p:nvSpPr>
          <p:cNvPr id="7" name="Text 5"/>
          <p:cNvSpPr txBox="1"/>
          <p:nvPr/>
        </p:nvSpPr>
        <p:spPr>
          <a:xfrm>
            <a:off x="868680" y="2468880"/>
            <a:ext cx="4663440" cy="640080"/>
          </a:xfrm>
          <a:prstGeom prst="rect">
            <a:avLst/>
          </a:prstGeom>
          <a:noFill/>
          <a:ln/>
        </p:spPr>
        <p:txBody>
          <a:bodyPr wrap="square" lIns="0" tIns="0" rIns="0" bIns="0" rtlCol="0" anchor="ctr"/>
          <a:lstStyle/>
          <a:p>
            <a:pPr indent="0" marL="0">
              <a:buNone/>
            </a:pPr>
            <a:r>
              <a:rPr lang="en-US" sz="2800" b="1" dirty="0">
                <a:solidFill>
                  <a:srgbClr val="E8552D"/>
                </a:solidFill>
                <a:latin typeface="Cambria" pitchFamily="34" charset="0"/>
                <a:ea typeface="Cambria" pitchFamily="34" charset="-122"/>
                <a:cs typeface="Cambria" pitchFamily="34" charset="-120"/>
              </a:rPr>
              <a:t>11.8 %   →   28.1 %</a:t>
            </a:r>
            <a:endParaRPr lang="en-US" sz="2800" dirty="0"/>
          </a:p>
        </p:txBody>
      </p:sp>
      <p:sp>
        <p:nvSpPr>
          <p:cNvPr id="8" name="Text 6"/>
          <p:cNvSpPr txBox="1"/>
          <p:nvPr/>
        </p:nvSpPr>
        <p:spPr>
          <a:xfrm>
            <a:off x="868680" y="3108960"/>
            <a:ext cx="4663440" cy="914400"/>
          </a:xfrm>
          <a:prstGeom prst="rect">
            <a:avLst/>
          </a:prstGeom>
          <a:noFill/>
          <a:ln/>
        </p:spPr>
        <p:txBody>
          <a:bodyPr wrap="square" lIns="0" tIns="0" rIns="0" bIns="0" rtlCol="0" anchor="ctr"/>
          <a:lstStyle/>
          <a:p>
            <a:pPr indent="0" marL="0">
              <a:buNone/>
            </a:pPr>
            <a:r>
              <a:rPr lang="en-US" sz="1250" dirty="0">
                <a:solidFill>
                  <a:srgbClr val="23272E"/>
                </a:solidFill>
                <a:latin typeface="Calibri" pitchFamily="34" charset="0"/>
                <a:ea typeface="Calibri" pitchFamily="34" charset="-122"/>
                <a:cs typeface="Calibri" pitchFamily="34" charset="-120"/>
              </a:rPr>
              <a:t>of runtime, before → after. It is now the single largest consumer, at 179,457 calls per frame.</a:t>
            </a:r>
            <a:endParaRPr lang="en-US" sz="1250" dirty="0"/>
          </a:p>
        </p:txBody>
      </p:sp>
      <p:sp>
        <p:nvSpPr>
          <p:cNvPr id="9" name="Shape 7"/>
          <p:cNvSpPr/>
          <p:nvPr/>
        </p:nvSpPr>
        <p:spPr>
          <a:xfrm>
            <a:off x="6309360" y="1965960"/>
            <a:ext cx="5257800" cy="2286000"/>
          </a:xfrm>
          <a:prstGeom prst="roundRect">
            <a:avLst>
              <a:gd name="adj" fmla="val 2400"/>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0" name="Text 8"/>
          <p:cNvSpPr txBox="1"/>
          <p:nvPr/>
        </p:nvSpPr>
        <p:spPr>
          <a:xfrm>
            <a:off x="6583680" y="2148840"/>
            <a:ext cx="4663440" cy="274320"/>
          </a:xfrm>
          <a:prstGeom prst="rect">
            <a:avLst/>
          </a:prstGeom>
          <a:noFill/>
          <a:ln/>
        </p:spPr>
        <p:txBody>
          <a:bodyPr wrap="square" lIns="0" tIns="0" rIns="0" bIns="0" rtlCol="0" anchor="ctr"/>
          <a:lstStyle/>
          <a:p>
            <a:pPr indent="0" marL="0">
              <a:buNone/>
            </a:pPr>
            <a:r>
              <a:rPr lang="en-US" sz="1200" b="1" spc="100" kern="0" dirty="0">
                <a:solidFill>
                  <a:srgbClr val="6B7280"/>
                </a:solidFill>
                <a:latin typeface="Calibri" pitchFamily="34" charset="0"/>
                <a:ea typeface="Calibri" pitchFamily="34" charset="-122"/>
                <a:cs typeface="Calibri" pitchFamily="34" charset="-120"/>
              </a:rPr>
              <a:t>_PyEval_EvalFrameDefault</a:t>
            </a:r>
            <a:endParaRPr lang="en-US" sz="1200" dirty="0"/>
          </a:p>
        </p:txBody>
      </p:sp>
      <p:sp>
        <p:nvSpPr>
          <p:cNvPr id="11" name="Text 9"/>
          <p:cNvSpPr txBox="1"/>
          <p:nvPr/>
        </p:nvSpPr>
        <p:spPr>
          <a:xfrm>
            <a:off x="6583680" y="2468880"/>
            <a:ext cx="4663440" cy="640080"/>
          </a:xfrm>
          <a:prstGeom prst="rect">
            <a:avLst/>
          </a:prstGeom>
          <a:noFill/>
          <a:ln/>
        </p:spPr>
        <p:txBody>
          <a:bodyPr wrap="square" lIns="0" tIns="0" rIns="0" bIns="0" rtlCol="0" anchor="ctr"/>
          <a:lstStyle/>
          <a:p>
            <a:pPr indent="0" marL="0">
              <a:buNone/>
            </a:pPr>
            <a:r>
              <a:rPr lang="en-US" sz="2800" b="1" dirty="0">
                <a:solidFill>
                  <a:srgbClr val="2D9596"/>
                </a:solidFill>
                <a:latin typeface="Cambria" pitchFamily="34" charset="0"/>
                <a:ea typeface="Cambria" pitchFamily="34" charset="-122"/>
                <a:cs typeface="Cambria" pitchFamily="34" charset="-120"/>
              </a:rPr>
              <a:t>28.1 %   →   34.1 %</a:t>
            </a:r>
            <a:endParaRPr lang="en-US" sz="2800" dirty="0"/>
          </a:p>
        </p:txBody>
      </p:sp>
      <p:sp>
        <p:nvSpPr>
          <p:cNvPr id="12" name="Text 10"/>
          <p:cNvSpPr txBox="1"/>
          <p:nvPr/>
        </p:nvSpPr>
        <p:spPr>
          <a:xfrm>
            <a:off x="6583680" y="3108960"/>
            <a:ext cx="4663440" cy="914400"/>
          </a:xfrm>
          <a:prstGeom prst="rect">
            <a:avLst/>
          </a:prstGeom>
          <a:noFill/>
          <a:ln/>
        </p:spPr>
        <p:txBody>
          <a:bodyPr wrap="square" lIns="0" tIns="0" rIns="0" bIns="0" rtlCol="0" anchor="ctr"/>
          <a:lstStyle/>
          <a:p>
            <a:pPr indent="0" marL="0">
              <a:buNone/>
            </a:pPr>
            <a:r>
              <a:rPr lang="en-US" sz="1250" dirty="0">
                <a:solidFill>
                  <a:srgbClr val="23272E"/>
                </a:solidFill>
                <a:latin typeface="Calibri" pitchFamily="34" charset="0"/>
                <a:ea typeface="Calibri" pitchFamily="34" charset="-122"/>
                <a:cs typeface="Calibri" pitchFamily="34" charset="-120"/>
              </a:rPr>
              <a:t>of samples. Its absolute cost fell with everything else — but of what remains, a larger fraction is raw interpreter dispatch.</a:t>
            </a:r>
            <a:endParaRPr lang="en-US" sz="1250" dirty="0"/>
          </a:p>
        </p:txBody>
      </p:sp>
      <p:sp>
        <p:nvSpPr>
          <p:cNvPr id="13" name="Shape 11"/>
          <p:cNvSpPr/>
          <p:nvPr/>
        </p:nvSpPr>
        <p:spPr>
          <a:xfrm>
            <a:off x="594360" y="4480560"/>
            <a:ext cx="10927080" cy="1371600"/>
          </a:xfrm>
          <a:prstGeom prst="roundRect">
            <a:avLst>
              <a:gd name="adj" fmla="val 4000"/>
            </a:avLst>
          </a:prstGeom>
          <a:solidFill>
            <a:srgbClr val="FDF1EC"/>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4" name="Text 12"/>
          <p:cNvSpPr txBox="1"/>
          <p:nvPr/>
        </p:nvSpPr>
        <p:spPr>
          <a:xfrm>
            <a:off x="914400" y="4663440"/>
            <a:ext cx="10241280" cy="320040"/>
          </a:xfrm>
          <a:prstGeom prst="rect">
            <a:avLst/>
          </a:prstGeom>
          <a:noFill/>
          <a:ln/>
        </p:spPr>
        <p:txBody>
          <a:bodyPr wrap="square" lIns="0" tIns="0" rIns="0" bIns="0" rtlCol="0" anchor="ctr"/>
          <a:lstStyle/>
          <a:p>
            <a:pPr indent="0" marL="0">
              <a:buNone/>
            </a:pPr>
            <a:r>
              <a:rPr lang="en-US" sz="1700" b="1" dirty="0">
                <a:solidFill>
                  <a:srgbClr val="23272E"/>
                </a:solidFill>
                <a:latin typeface="Cambria" pitchFamily="34" charset="0"/>
                <a:ea typeface="Cambria" pitchFamily="34" charset="-122"/>
                <a:cs typeface="Cambria" pitchFamily="34" charset="-120"/>
              </a:rPr>
              <a:t>Once the removable software overhead is gone, what is left is irreducible in software.</a:t>
            </a:r>
            <a:endParaRPr lang="en-US" sz="1700" dirty="0"/>
          </a:p>
        </p:txBody>
      </p:sp>
      <p:sp>
        <p:nvSpPr>
          <p:cNvPr id="15" name="Text 13"/>
          <p:cNvSpPr txBox="1"/>
          <p:nvPr/>
        </p:nvSpPr>
        <p:spPr>
          <a:xfrm>
            <a:off x="914400" y="5029200"/>
            <a:ext cx="10241280" cy="640080"/>
          </a:xfrm>
          <a:prstGeom prst="rect">
            <a:avLst/>
          </a:prstGeom>
          <a:noFill/>
          <a:ln/>
        </p:spPr>
        <p:txBody>
          <a:bodyPr wrap="square" lIns="0" tIns="0" rIns="0" bIns="0" rtlCol="0" anchor="ctr"/>
          <a:lstStyle/>
          <a:p>
            <a:pPr indent="0" marL="0">
              <a:lnSpc>
                <a:spcPct val="115000"/>
              </a:lnSpc>
              <a:buNone/>
            </a:pPr>
            <a:r>
              <a:rPr lang="en-US" sz="1350" dirty="0">
                <a:solidFill>
                  <a:srgbClr val="23272E"/>
                </a:solidFill>
                <a:latin typeface="Calibri" pitchFamily="34" charset="0"/>
                <a:ea typeface="Calibri" pitchFamily="34" charset="-122"/>
                <a:cs typeface="Calibri" pitchFamily="34" charset="-120"/>
              </a:rPr>
              <a:t>That residue is fixed-shape, control-free arithmetic executed 179,457 times per frame — which is precisely the shape of problem a small fixed-function accelerator is good at. This is where hardware earns its place, and not before.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THE ACCELERATOR</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Ray–Sphere Intersection Unit</a:t>
            </a:r>
            <a:endParaRPr lang="en-US" sz="3200" dirty="0"/>
          </a:p>
        </p:txBody>
      </p:sp>
      <p:sp>
        <p:nvSpPr>
          <p:cNvPr id="4" name="Text 2"/>
          <p:cNvSpPr txBox="1"/>
          <p:nvPr/>
        </p:nvSpPr>
        <p:spPr>
          <a:xfrm>
            <a:off x="594360" y="1371600"/>
            <a:ext cx="10881360" cy="320040"/>
          </a:xfrm>
          <a:prstGeom prst="rect">
            <a:avLst/>
          </a:prstGeom>
          <a:noFill/>
          <a:ln/>
        </p:spPr>
        <p:txBody>
          <a:bodyPr wrap="square" lIns="0" tIns="0" rIns="0" bIns="0" rtlCol="0" anchor="ctr"/>
          <a:lstStyle/>
          <a:p>
            <a:pPr indent="0" marL="0">
              <a:buNone/>
            </a:pPr>
            <a:r>
              <a:rPr lang="en-US" sz="1350" dirty="0">
                <a:solidFill>
                  <a:srgbClr val="23272E"/>
                </a:solidFill>
                <a:latin typeface="Calibri" pitchFamily="34" charset="0"/>
                <a:ea typeface="Calibri" pitchFamily="34" charset="-122"/>
                <a:cs typeface="Calibri" pitchFamily="34" charset="-120"/>
              </a:rPr>
              <a:t>The render loop is  for (o, s) in self.objects: o.intersectionTime(ray)  — ONE ray against MANY spheres.</a:t>
            </a:r>
            <a:endParaRPr lang="en-US" sz="1350" dirty="0"/>
          </a:p>
        </p:txBody>
      </p:sp>
      <p:sp>
        <p:nvSpPr>
          <p:cNvPr id="5" name="Text 3"/>
          <p:cNvSpPr txBox="1"/>
          <p:nvPr/>
        </p:nvSpPr>
        <p:spPr>
          <a:xfrm>
            <a:off x="594360" y="1691640"/>
            <a:ext cx="10881360" cy="45720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So we hold the ray stationary in registers and stream spheres past it, one per cycle — the same weight-stationary dataflow the TPU uses. Ray operands are fetched once per ray instead of once per sphere.</a:t>
            </a:r>
            <a:endParaRPr lang="en-US" sz="1350" dirty="0"/>
          </a:p>
        </p:txBody>
      </p:sp>
      <p:sp>
        <p:nvSpPr>
          <p:cNvPr id="6" name="Shape 4"/>
          <p:cNvSpPr/>
          <p:nvPr/>
        </p:nvSpPr>
        <p:spPr>
          <a:xfrm>
            <a:off x="594360" y="2377440"/>
            <a:ext cx="3017520" cy="2926080"/>
          </a:xfrm>
          <a:prstGeom prst="roundRect">
            <a:avLst>
              <a:gd name="adj" fmla="val 1875"/>
            </a:avLst>
          </a:prstGeom>
          <a:solidFill>
            <a:srgbClr val="FFFFFF"/>
          </a:solidFill>
          <a:ln w="15875">
            <a:solidFill>
              <a:srgbClr val="C9CCD1"/>
            </a:solidFill>
            <a:prstDash val="solid"/>
          </a:ln>
        </p:spPr>
      </p:sp>
      <p:sp>
        <p:nvSpPr>
          <p:cNvPr id="7" name="Text 5"/>
          <p:cNvSpPr txBox="1"/>
          <p:nvPr/>
        </p:nvSpPr>
        <p:spPr>
          <a:xfrm>
            <a:off x="777240" y="2542032"/>
            <a:ext cx="2651760" cy="274320"/>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HOST  (CPython)</a:t>
            </a:r>
            <a:endParaRPr lang="en-US" sz="1100" dirty="0"/>
          </a:p>
        </p:txBody>
      </p:sp>
      <p:sp>
        <p:nvSpPr>
          <p:cNvPr id="8" name="Text 6"/>
          <p:cNvSpPr txBox="1"/>
          <p:nvPr/>
        </p:nvSpPr>
        <p:spPr>
          <a:xfrm>
            <a:off x="777240" y="2880360"/>
            <a:ext cx="2697480" cy="2194560"/>
          </a:xfrm>
          <a:prstGeom prst="rect">
            <a:avLst/>
          </a:prstGeom>
          <a:noFill/>
          <a:ln/>
        </p:spPr>
        <p:txBody>
          <a:bodyPr wrap="square" lIns="0" tIns="0" rIns="0" bIns="0" rtlCol="0" anchor="ctr"/>
          <a:lstStyle/>
          <a:p>
            <a:pPr indent="0" marL="0">
              <a:lnSpc>
                <a:spcPct val="125000"/>
              </a:lnSpc>
              <a:buNone/>
            </a:pPr>
            <a:r>
              <a:rPr lang="en-US" sz="1150" dirty="0">
                <a:solidFill>
                  <a:srgbClr val="23272E"/>
                </a:solidFill>
                <a:latin typeface="Calibri" pitchFamily="34" charset="0"/>
                <a:ea typeface="Calibri" pitchFamily="34" charset="-122"/>
                <a:cs typeface="Calibri" pitchFamily="34" charset="-120"/>
              </a:rPr>
              <a:t>Scene.rayColour</a:t>
            </a:r>
            <a:endParaRPr lang="en-US" sz="1150" dirty="0"/>
          </a:p>
          <a:p>
            <a:pPr indent="0" marL="0">
              <a:lnSpc>
                <a:spcPct val="125000"/>
              </a:lnSpc>
              <a:buNone/>
            </a:pPr>
            <a:endParaRPr lang="en-US" sz="1150" dirty="0"/>
          </a:p>
          <a:p>
            <a:pPr indent="0" marL="0">
              <a:lnSpc>
                <a:spcPct val="125000"/>
              </a:lnSpc>
              <a:buNone/>
            </a:pPr>
            <a:r>
              <a:rPr lang="en-US" sz="1150" dirty="0">
                <a:solidFill>
                  <a:srgbClr val="23272E"/>
                </a:solidFill>
                <a:latin typeface="Calibri" pitchFamily="34" charset="0"/>
                <a:ea typeface="Calibri" pitchFamily="34" charset="-122"/>
                <a:cs typeface="Calibri" pitchFamily="34" charset="-120"/>
              </a:rPr>
              <a:t>① set_ray()  → MMIO BAR0</a:t>
            </a:r>
            <a:endParaRPr lang="en-US" sz="1150" dirty="0"/>
          </a:p>
          <a:p>
            <a:pPr indent="0" marL="0">
              <a:lnSpc>
                <a:spcPct val="125000"/>
              </a:lnSpc>
              <a:buNone/>
            </a:pPr>
            <a:r>
              <a:rPr lang="en-US" sz="1150" dirty="0">
                <a:solidFill>
                  <a:srgbClr val="23272E"/>
                </a:solidFill>
                <a:latin typeface="Calibri" pitchFamily="34" charset="0"/>
                <a:ea typeface="Calibri" pitchFamily="34" charset="-122"/>
                <a:cs typeface="Calibri" pitchFamily="34" charset="-120"/>
              </a:rPr>
              <a:t>② spheres    → DMA</a:t>
            </a:r>
            <a:endParaRPr lang="en-US" sz="1150" dirty="0"/>
          </a:p>
          <a:p>
            <a:pPr indent="0" marL="0">
              <a:lnSpc>
                <a:spcPct val="125000"/>
              </a:lnSpc>
              <a:buNone/>
            </a:pPr>
            <a:r>
              <a:rPr lang="en-US" sz="1150" dirty="0">
                <a:solidFill>
                  <a:srgbClr val="23272E"/>
                </a:solidFill>
                <a:latin typeface="Calibri" pitchFamily="34" charset="0"/>
                <a:ea typeface="Calibri" pitchFamily="34" charset="-122"/>
                <a:cs typeface="Calibri" pitchFamily="34" charset="-120"/>
              </a:rPr>
              <a:t>③ doorbell   → GO bit</a:t>
            </a:r>
            <a:endParaRPr lang="en-US" sz="1150" dirty="0"/>
          </a:p>
          <a:p>
            <a:pPr indent="0" marL="0">
              <a:lnSpc>
                <a:spcPct val="125000"/>
              </a:lnSpc>
              <a:buNone/>
            </a:pPr>
            <a:r>
              <a:rPr lang="en-US" sz="1150" dirty="0">
                <a:solidFill>
                  <a:srgbClr val="23272E"/>
                </a:solidFill>
                <a:latin typeface="Calibri" pitchFamily="34" charset="0"/>
                <a:ea typeface="Calibri" pitchFamily="34" charset="-122"/>
                <a:cs typeface="Calibri" pitchFamily="34" charset="-120"/>
              </a:rPr>
              <a:t>④ results    ← DMA</a:t>
            </a:r>
            <a:endParaRPr lang="en-US" sz="1150" dirty="0"/>
          </a:p>
          <a:p>
            <a:pPr indent="0" marL="0">
              <a:lnSpc>
                <a:spcPct val="125000"/>
              </a:lnSpc>
              <a:buNone/>
            </a:pPr>
            <a:r>
              <a:rPr lang="en-US" sz="1150" dirty="0">
                <a:solidFill>
                  <a:srgbClr val="23272E"/>
                </a:solidFill>
                <a:latin typeface="Calibri" pitchFamily="34" charset="0"/>
                <a:ea typeface="Calibri" pitchFamily="34" charset="-122"/>
                <a:cs typeface="Calibri" pitchFamily="34" charset="-120"/>
              </a:rPr>
              <a:t>⑤ poll done  ← MMIO</a:t>
            </a:r>
            <a:endParaRPr lang="en-US" sz="1150" dirty="0"/>
          </a:p>
        </p:txBody>
      </p:sp>
      <p:sp>
        <p:nvSpPr>
          <p:cNvPr id="9" name="Shape 7"/>
          <p:cNvSpPr/>
          <p:nvPr/>
        </p:nvSpPr>
        <p:spPr>
          <a:xfrm>
            <a:off x="3703320" y="3657600"/>
            <a:ext cx="777240" cy="384048"/>
          </a:xfrm>
          <a:prstGeom prst="rightArrow">
            <a:avLst/>
          </a:prstGeom>
          <a:solidFill>
            <a:srgbClr val="2D9596"/>
          </a:solidFill>
          <a:ln/>
        </p:spPr>
      </p:sp>
      <p:sp>
        <p:nvSpPr>
          <p:cNvPr id="10" name="Text 8"/>
          <p:cNvSpPr txBox="1"/>
          <p:nvPr/>
        </p:nvSpPr>
        <p:spPr>
          <a:xfrm>
            <a:off x="3657600" y="3310128"/>
            <a:ext cx="868680" cy="274320"/>
          </a:xfrm>
          <a:prstGeom prst="rect">
            <a:avLst/>
          </a:prstGeom>
          <a:noFill/>
          <a:ln/>
        </p:spPr>
        <p:txBody>
          <a:bodyPr wrap="square" lIns="0" tIns="0" rIns="0" bIns="0" rtlCol="0" anchor="ctr"/>
          <a:lstStyle/>
          <a:p>
            <a:pPr algn="ctr" indent="0" marL="0">
              <a:buNone/>
            </a:pPr>
            <a:r>
              <a:rPr lang="en-US" sz="1000" b="1" dirty="0">
                <a:solidFill>
                  <a:srgbClr val="2D9596"/>
                </a:solidFill>
                <a:latin typeface="Calibri" pitchFamily="34" charset="0"/>
                <a:ea typeface="Calibri" pitchFamily="34" charset="-122"/>
                <a:cs typeface="Calibri" pitchFamily="34" charset="-120"/>
              </a:rPr>
              <a:t>PCIe</a:t>
            </a:r>
            <a:endParaRPr lang="en-US" sz="1000" dirty="0"/>
          </a:p>
        </p:txBody>
      </p:sp>
      <p:sp>
        <p:nvSpPr>
          <p:cNvPr id="11" name="Shape 9"/>
          <p:cNvSpPr/>
          <p:nvPr/>
        </p:nvSpPr>
        <p:spPr>
          <a:xfrm>
            <a:off x="4617720" y="2377440"/>
            <a:ext cx="6949440" cy="2926080"/>
          </a:xfrm>
          <a:prstGeom prst="roundRect">
            <a:avLst>
              <a:gd name="adj" fmla="val 1875"/>
            </a:avLst>
          </a:prstGeom>
          <a:solidFill>
            <a:srgbClr val="EAF5F5"/>
          </a:solidFill>
          <a:ln w="15875">
            <a:solidFill>
              <a:srgbClr val="2D9596"/>
            </a:solidFill>
            <a:prstDash val="solid"/>
          </a:ln>
        </p:spPr>
      </p:sp>
      <p:sp>
        <p:nvSpPr>
          <p:cNvPr id="12" name="Text 10"/>
          <p:cNvSpPr txBox="1"/>
          <p:nvPr/>
        </p:nvSpPr>
        <p:spPr>
          <a:xfrm>
            <a:off x="4800600" y="2542032"/>
            <a:ext cx="3657600" cy="274320"/>
          </a:xfrm>
          <a:prstGeom prst="rect">
            <a:avLst/>
          </a:prstGeom>
          <a:noFill/>
          <a:ln/>
        </p:spPr>
        <p:txBody>
          <a:bodyPr wrap="square" lIns="0" tIns="0" rIns="0" bIns="0" rtlCol="0" anchor="ctr"/>
          <a:lstStyle/>
          <a:p>
            <a:pPr indent="0" marL="0">
              <a:buNone/>
            </a:pPr>
            <a:r>
              <a:rPr lang="en-US" sz="1100" b="1" spc="100" kern="0" dirty="0">
                <a:solidFill>
                  <a:srgbClr val="2D9596"/>
                </a:solidFill>
                <a:latin typeface="Calibri" pitchFamily="34" charset="0"/>
                <a:ea typeface="Calibri" pitchFamily="34" charset="-122"/>
                <a:cs typeface="Calibri" pitchFamily="34" charset="-120"/>
              </a:rPr>
              <a:t>RSIU ACCELERATOR</a:t>
            </a:r>
            <a:endParaRPr lang="en-US" sz="1100" dirty="0"/>
          </a:p>
        </p:txBody>
      </p:sp>
      <p:sp>
        <p:nvSpPr>
          <p:cNvPr id="13" name="Shape 11"/>
          <p:cNvSpPr/>
          <p:nvPr/>
        </p:nvSpPr>
        <p:spPr>
          <a:xfrm>
            <a:off x="4846320" y="2880360"/>
            <a:ext cx="6492240" cy="256032"/>
          </a:xfrm>
          <a:prstGeom prst="roundRect">
            <a:avLst>
              <a:gd name="adj" fmla="val 10714"/>
            </a:avLst>
          </a:prstGeom>
          <a:solidFill>
            <a:srgbClr val="D6EBEB"/>
          </a:solidFill>
          <a:ln w="9525">
            <a:solidFill>
              <a:srgbClr val="BBD8D8"/>
            </a:solidFill>
            <a:prstDash val="solid"/>
          </a:ln>
        </p:spPr>
      </p:sp>
      <p:sp>
        <p:nvSpPr>
          <p:cNvPr id="14" name="Text 12"/>
          <p:cNvSpPr txBox="1"/>
          <p:nvPr/>
        </p:nvSpPr>
        <p:spPr>
          <a:xfrm>
            <a:off x="4983480" y="2880360"/>
            <a:ext cx="6217920" cy="256032"/>
          </a:xfrm>
          <a:prstGeom prst="rect">
            <a:avLst/>
          </a:prstGeom>
          <a:noFill/>
          <a:ln/>
        </p:spPr>
        <p:txBody>
          <a:bodyPr wrap="square" lIns="0" tIns="0" rIns="0" bIns="0" rtlCol="0" anchor="ctr"/>
          <a:lstStyle/>
          <a:p>
            <a:pPr indent="0" marL="0">
              <a:buNone/>
            </a:pPr>
            <a:r>
              <a:rPr lang="en-US" sz="1000" dirty="0">
                <a:solidFill>
                  <a:srgbClr val="23272E"/>
                </a:solidFill>
                <a:latin typeface="Courier New" pitchFamily="34" charset="0"/>
                <a:ea typeface="Courier New" pitchFamily="34" charset="-122"/>
                <a:cs typeface="Courier New" pitchFamily="34" charset="-120"/>
              </a:rPr>
              <a:t>Ray registers (stationary)</a:t>
            </a:r>
            <a:endParaRPr lang="en-US" sz="1000" dirty="0"/>
          </a:p>
        </p:txBody>
      </p:sp>
      <p:sp>
        <p:nvSpPr>
          <p:cNvPr id="15" name="Shape 13"/>
          <p:cNvSpPr/>
          <p:nvPr/>
        </p:nvSpPr>
        <p:spPr>
          <a:xfrm>
            <a:off x="4846320" y="3177540"/>
            <a:ext cx="6492240" cy="256032"/>
          </a:xfrm>
          <a:prstGeom prst="roundRect">
            <a:avLst>
              <a:gd name="adj" fmla="val 10714"/>
            </a:avLst>
          </a:prstGeom>
          <a:solidFill>
            <a:srgbClr val="D6EBEB"/>
          </a:solidFill>
          <a:ln w="9525">
            <a:solidFill>
              <a:srgbClr val="BBD8D8"/>
            </a:solidFill>
            <a:prstDash val="solid"/>
          </a:ln>
        </p:spPr>
      </p:sp>
      <p:sp>
        <p:nvSpPr>
          <p:cNvPr id="16" name="Text 14"/>
          <p:cNvSpPr txBox="1"/>
          <p:nvPr/>
        </p:nvSpPr>
        <p:spPr>
          <a:xfrm>
            <a:off x="4983480" y="3177540"/>
            <a:ext cx="6217920" cy="256032"/>
          </a:xfrm>
          <a:prstGeom prst="rect">
            <a:avLst/>
          </a:prstGeom>
          <a:noFill/>
          <a:ln/>
        </p:spPr>
        <p:txBody>
          <a:bodyPr wrap="square" lIns="0" tIns="0" rIns="0" bIns="0" rtlCol="0" anchor="ctr"/>
          <a:lstStyle/>
          <a:p>
            <a:pPr indent="0" marL="0">
              <a:buNone/>
            </a:pPr>
            <a:r>
              <a:rPr lang="en-US" sz="1000" dirty="0">
                <a:solidFill>
                  <a:srgbClr val="23272E"/>
                </a:solidFill>
                <a:latin typeface="Courier New" pitchFamily="34" charset="0"/>
                <a:ea typeface="Courier New" pitchFamily="34" charset="-122"/>
                <a:cs typeface="Courier New" pitchFamily="34" charset="-120"/>
              </a:rPr>
              <a:t>Sphere FIFO — 32 deep</a:t>
            </a:r>
            <a:endParaRPr lang="en-US" sz="1000" dirty="0"/>
          </a:p>
        </p:txBody>
      </p:sp>
      <p:sp>
        <p:nvSpPr>
          <p:cNvPr id="17" name="Shape 15"/>
          <p:cNvSpPr/>
          <p:nvPr/>
        </p:nvSpPr>
        <p:spPr>
          <a:xfrm>
            <a:off x="4846320" y="3474720"/>
            <a:ext cx="6492240" cy="256032"/>
          </a:xfrm>
          <a:prstGeom prst="roundRect">
            <a:avLst>
              <a:gd name="adj" fmla="val 10714"/>
            </a:avLst>
          </a:prstGeom>
          <a:solidFill>
            <a:srgbClr val="FFFFFF"/>
          </a:solidFill>
          <a:ln w="9525">
            <a:solidFill>
              <a:srgbClr val="BBD8D8"/>
            </a:solidFill>
            <a:prstDash val="solid"/>
          </a:ln>
        </p:spPr>
      </p:sp>
      <p:sp>
        <p:nvSpPr>
          <p:cNvPr id="18" name="Text 16"/>
          <p:cNvSpPr txBox="1"/>
          <p:nvPr/>
        </p:nvSpPr>
        <p:spPr>
          <a:xfrm>
            <a:off x="4983480" y="3474720"/>
            <a:ext cx="6217920" cy="256032"/>
          </a:xfrm>
          <a:prstGeom prst="rect">
            <a:avLst/>
          </a:prstGeom>
          <a:noFill/>
          <a:ln/>
        </p:spPr>
        <p:txBody>
          <a:bodyPr wrap="square" lIns="0" tIns="0" rIns="0" bIns="0" rtlCol="0" anchor="ctr"/>
          <a:lstStyle/>
          <a:p>
            <a:pPr indent="0" marL="0">
              <a:buNone/>
            </a:pPr>
            <a:r>
              <a:rPr lang="en-US" sz="1000" dirty="0">
                <a:solidFill>
                  <a:srgbClr val="23272E"/>
                </a:solidFill>
                <a:latin typeface="Courier New" pitchFamily="34" charset="0"/>
                <a:ea typeface="Courier New" pitchFamily="34" charset="-122"/>
                <a:cs typeface="Courier New" pitchFamily="34" charset="-120"/>
              </a:rPr>
              <a:t>S1  cp = C − P            3 sub</a:t>
            </a:r>
            <a:endParaRPr lang="en-US" sz="1000" dirty="0"/>
          </a:p>
        </p:txBody>
      </p:sp>
      <p:sp>
        <p:nvSpPr>
          <p:cNvPr id="19" name="Shape 17"/>
          <p:cNvSpPr/>
          <p:nvPr/>
        </p:nvSpPr>
        <p:spPr>
          <a:xfrm>
            <a:off x="4846320" y="3771900"/>
            <a:ext cx="6492240" cy="256032"/>
          </a:xfrm>
          <a:prstGeom prst="roundRect">
            <a:avLst>
              <a:gd name="adj" fmla="val 10714"/>
            </a:avLst>
          </a:prstGeom>
          <a:solidFill>
            <a:srgbClr val="FFFFFF"/>
          </a:solidFill>
          <a:ln w="9525">
            <a:solidFill>
              <a:srgbClr val="BBD8D8"/>
            </a:solidFill>
            <a:prstDash val="solid"/>
          </a:ln>
        </p:spPr>
      </p:sp>
      <p:sp>
        <p:nvSpPr>
          <p:cNvPr id="20" name="Text 18"/>
          <p:cNvSpPr txBox="1"/>
          <p:nvPr/>
        </p:nvSpPr>
        <p:spPr>
          <a:xfrm>
            <a:off x="4983480" y="3771900"/>
            <a:ext cx="6217920" cy="256032"/>
          </a:xfrm>
          <a:prstGeom prst="rect">
            <a:avLst/>
          </a:prstGeom>
          <a:noFill/>
          <a:ln/>
        </p:spPr>
        <p:txBody>
          <a:bodyPr wrap="square" lIns="0" tIns="0" rIns="0" bIns="0" rtlCol="0" anchor="ctr"/>
          <a:lstStyle/>
          <a:p>
            <a:pPr indent="0" marL="0">
              <a:buNone/>
            </a:pPr>
            <a:r>
              <a:rPr lang="en-US" sz="1000" dirty="0">
                <a:solidFill>
                  <a:srgbClr val="23272E"/>
                </a:solidFill>
                <a:latin typeface="Courier New" pitchFamily="34" charset="0"/>
                <a:ea typeface="Courier New" pitchFamily="34" charset="-122"/>
                <a:cs typeface="Courier New" pitchFamily="34" charset="-120"/>
              </a:rPr>
              <a:t>S2  8 × multiply</a:t>
            </a:r>
            <a:endParaRPr lang="en-US" sz="1000" dirty="0"/>
          </a:p>
        </p:txBody>
      </p:sp>
      <p:sp>
        <p:nvSpPr>
          <p:cNvPr id="21" name="Shape 19"/>
          <p:cNvSpPr/>
          <p:nvPr/>
        </p:nvSpPr>
        <p:spPr>
          <a:xfrm>
            <a:off x="4846320" y="4069080"/>
            <a:ext cx="6492240" cy="256032"/>
          </a:xfrm>
          <a:prstGeom prst="roundRect">
            <a:avLst>
              <a:gd name="adj" fmla="val 10714"/>
            </a:avLst>
          </a:prstGeom>
          <a:solidFill>
            <a:srgbClr val="FFFFFF"/>
          </a:solidFill>
          <a:ln w="9525">
            <a:solidFill>
              <a:srgbClr val="BBD8D8"/>
            </a:solidFill>
            <a:prstDash val="solid"/>
          </a:ln>
        </p:spPr>
      </p:sp>
      <p:sp>
        <p:nvSpPr>
          <p:cNvPr id="22" name="Text 20"/>
          <p:cNvSpPr txBox="1"/>
          <p:nvPr/>
        </p:nvSpPr>
        <p:spPr>
          <a:xfrm>
            <a:off x="4983480" y="4069080"/>
            <a:ext cx="6217920" cy="256032"/>
          </a:xfrm>
          <a:prstGeom prst="rect">
            <a:avLst/>
          </a:prstGeom>
          <a:noFill/>
          <a:ln/>
        </p:spPr>
        <p:txBody>
          <a:bodyPr wrap="square" lIns="0" tIns="0" rIns="0" bIns="0" rtlCol="0" anchor="ctr"/>
          <a:lstStyle/>
          <a:p>
            <a:pPr indent="0" marL="0">
              <a:buNone/>
            </a:pPr>
            <a:r>
              <a:rPr lang="en-US" sz="1000" dirty="0">
                <a:solidFill>
                  <a:srgbClr val="23272E"/>
                </a:solidFill>
                <a:latin typeface="Courier New" pitchFamily="34" charset="0"/>
                <a:ea typeface="Courier New" pitchFamily="34" charset="-122"/>
                <a:cs typeface="Courier New" pitchFamily="34" charset="-120"/>
              </a:rPr>
              <a:t>S3  adder trees (Q32.32)</a:t>
            </a:r>
            <a:endParaRPr lang="en-US" sz="1000" dirty="0"/>
          </a:p>
        </p:txBody>
      </p:sp>
      <p:sp>
        <p:nvSpPr>
          <p:cNvPr id="23" name="Shape 21"/>
          <p:cNvSpPr/>
          <p:nvPr/>
        </p:nvSpPr>
        <p:spPr>
          <a:xfrm>
            <a:off x="4846320" y="4366260"/>
            <a:ext cx="6492240" cy="256032"/>
          </a:xfrm>
          <a:prstGeom prst="roundRect">
            <a:avLst>
              <a:gd name="adj" fmla="val 10714"/>
            </a:avLst>
          </a:prstGeom>
          <a:solidFill>
            <a:srgbClr val="FFFFFF"/>
          </a:solidFill>
          <a:ln w="9525">
            <a:solidFill>
              <a:srgbClr val="BBD8D8"/>
            </a:solidFill>
            <a:prstDash val="solid"/>
          </a:ln>
        </p:spPr>
      </p:sp>
      <p:sp>
        <p:nvSpPr>
          <p:cNvPr id="24" name="Text 22"/>
          <p:cNvSpPr txBox="1"/>
          <p:nvPr/>
        </p:nvSpPr>
        <p:spPr>
          <a:xfrm>
            <a:off x="4983480" y="4366260"/>
            <a:ext cx="6217920" cy="256032"/>
          </a:xfrm>
          <a:prstGeom prst="rect">
            <a:avLst/>
          </a:prstGeom>
          <a:noFill/>
          <a:ln/>
        </p:spPr>
        <p:txBody>
          <a:bodyPr wrap="square" lIns="0" tIns="0" rIns="0" bIns="0" rtlCol="0" anchor="ctr"/>
          <a:lstStyle/>
          <a:p>
            <a:pPr indent="0" marL="0">
              <a:buNone/>
            </a:pPr>
            <a:r>
              <a:rPr lang="en-US" sz="1000" dirty="0">
                <a:solidFill>
                  <a:srgbClr val="23272E"/>
                </a:solidFill>
                <a:latin typeface="Courier New" pitchFamily="34" charset="0"/>
                <a:ea typeface="Courier New" pitchFamily="34" charset="-122"/>
                <a:cs typeface="Courier New" pitchFamily="34" charset="-120"/>
              </a:rPr>
              <a:t>S4  disc + hit test</a:t>
            </a:r>
            <a:endParaRPr lang="en-US" sz="1000" dirty="0"/>
          </a:p>
        </p:txBody>
      </p:sp>
      <p:sp>
        <p:nvSpPr>
          <p:cNvPr id="25" name="Shape 23"/>
          <p:cNvSpPr/>
          <p:nvPr/>
        </p:nvSpPr>
        <p:spPr>
          <a:xfrm>
            <a:off x="4846320" y="4663440"/>
            <a:ext cx="6492240" cy="256032"/>
          </a:xfrm>
          <a:prstGeom prst="roundRect">
            <a:avLst>
              <a:gd name="adj" fmla="val 10714"/>
            </a:avLst>
          </a:prstGeom>
          <a:solidFill>
            <a:srgbClr val="FFFFFF"/>
          </a:solidFill>
          <a:ln w="9525">
            <a:solidFill>
              <a:srgbClr val="BBD8D8"/>
            </a:solidFill>
            <a:prstDash val="solid"/>
          </a:ln>
        </p:spPr>
      </p:sp>
      <p:sp>
        <p:nvSpPr>
          <p:cNvPr id="26" name="Text 24"/>
          <p:cNvSpPr txBox="1"/>
          <p:nvPr/>
        </p:nvSpPr>
        <p:spPr>
          <a:xfrm>
            <a:off x="4983480" y="4663440"/>
            <a:ext cx="6217920" cy="256032"/>
          </a:xfrm>
          <a:prstGeom prst="rect">
            <a:avLst/>
          </a:prstGeom>
          <a:noFill/>
          <a:ln/>
        </p:spPr>
        <p:txBody>
          <a:bodyPr wrap="square" lIns="0" tIns="0" rIns="0" bIns="0" rtlCol="0" anchor="ctr"/>
          <a:lstStyle/>
          <a:p>
            <a:pPr indent="0" marL="0">
              <a:buNone/>
            </a:pPr>
            <a:r>
              <a:rPr lang="en-US" sz="1000" dirty="0">
                <a:solidFill>
                  <a:srgbClr val="23272E"/>
                </a:solidFill>
                <a:latin typeface="Courier New" pitchFamily="34" charset="0"/>
                <a:ea typeface="Courier New" pitchFamily="34" charset="-122"/>
                <a:cs typeface="Courier New" pitchFamily="34" charset="-120"/>
              </a:rPr>
              <a:t>S5–S28  pipelined sqrt</a:t>
            </a:r>
            <a:endParaRPr lang="en-US" sz="1000" dirty="0"/>
          </a:p>
        </p:txBody>
      </p:sp>
      <p:sp>
        <p:nvSpPr>
          <p:cNvPr id="27" name="Shape 25"/>
          <p:cNvSpPr/>
          <p:nvPr/>
        </p:nvSpPr>
        <p:spPr>
          <a:xfrm>
            <a:off x="4846320" y="4960620"/>
            <a:ext cx="6492240" cy="256032"/>
          </a:xfrm>
          <a:prstGeom prst="roundRect">
            <a:avLst>
              <a:gd name="adj" fmla="val 10714"/>
            </a:avLst>
          </a:prstGeom>
          <a:solidFill>
            <a:srgbClr val="FFFFFF"/>
          </a:solidFill>
          <a:ln w="9525">
            <a:solidFill>
              <a:srgbClr val="BBD8D8"/>
            </a:solidFill>
            <a:prstDash val="solid"/>
          </a:ln>
        </p:spPr>
      </p:sp>
      <p:sp>
        <p:nvSpPr>
          <p:cNvPr id="28" name="Text 26"/>
          <p:cNvSpPr txBox="1"/>
          <p:nvPr/>
        </p:nvSpPr>
        <p:spPr>
          <a:xfrm>
            <a:off x="4983480" y="4960620"/>
            <a:ext cx="6217920" cy="256032"/>
          </a:xfrm>
          <a:prstGeom prst="rect">
            <a:avLst/>
          </a:prstGeom>
          <a:noFill/>
          <a:ln/>
        </p:spPr>
        <p:txBody>
          <a:bodyPr wrap="square" lIns="0" tIns="0" rIns="0" bIns="0" rtlCol="0" anchor="ctr"/>
          <a:lstStyle/>
          <a:p>
            <a:pPr indent="0" marL="0">
              <a:buNone/>
            </a:pPr>
            <a:r>
              <a:rPr lang="en-US" sz="1000" dirty="0">
                <a:solidFill>
                  <a:srgbClr val="23272E"/>
                </a:solidFill>
                <a:latin typeface="Courier New" pitchFamily="34" charset="0"/>
                <a:ea typeface="Courier New" pitchFamily="34" charset="-122"/>
                <a:cs typeface="Courier New" pitchFamily="34" charset="-120"/>
              </a:rPr>
              <a:t>S29  t = v − √disc</a:t>
            </a:r>
            <a:endParaRPr lang="en-US" sz="1000" dirty="0"/>
          </a:p>
        </p:txBody>
      </p:sp>
      <p:sp>
        <p:nvSpPr>
          <p:cNvPr id="29" name="Text 27"/>
          <p:cNvSpPr txBox="1"/>
          <p:nvPr/>
        </p:nvSpPr>
        <p:spPr>
          <a:xfrm>
            <a:off x="594360" y="5486400"/>
            <a:ext cx="10881360" cy="548640"/>
          </a:xfrm>
          <a:prstGeom prst="rect">
            <a:avLst/>
          </a:prstGeom>
          <a:noFill/>
          <a:ln/>
        </p:spPr>
        <p:txBody>
          <a:bodyPr wrap="square" lIns="0" tIns="0" rIns="0" bIns="0" rtlCol="0" anchor="ctr"/>
          <a:lstStyle/>
          <a:p>
            <a:pPr indent="0" marL="0">
              <a:buNone/>
            </a:pPr>
            <a:r>
              <a:rPr lang="en-US" sz="1250" dirty="0">
                <a:solidFill>
                  <a:srgbClr val="23272E"/>
                </a:solidFill>
                <a:latin typeface="Calibri" pitchFamily="34" charset="0"/>
                <a:ea typeface="Calibri" pitchFamily="34" charset="-122"/>
                <a:cs typeface="Calibri" pitchFamily="34" charset="-120"/>
              </a:rPr>
              <a:t>No FSM · no stalls · no branches — a miss is a flag on the result, not a branch.  Little's Law: λ=1/cycle × W=30 cycles ⇒ 30 in flight, so the FIFOs are 32 deep.</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VERIFICATION</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It compiles, it simulates, and it is correct</a:t>
            </a:r>
            <a:endParaRPr lang="en-US" sz="3200" dirty="0"/>
          </a:p>
        </p:txBody>
      </p:sp>
      <p:sp>
        <p:nvSpPr>
          <p:cNvPr id="4" name="Text 2"/>
          <p:cNvSpPr txBox="1"/>
          <p:nvPr/>
        </p:nvSpPr>
        <p:spPr>
          <a:xfrm>
            <a:off x="594360" y="1417320"/>
            <a:ext cx="10881360" cy="457200"/>
          </a:xfrm>
          <a:prstGeom prst="rect">
            <a:avLst/>
          </a:prstGeom>
          <a:noFill/>
          <a:ln/>
        </p:spPr>
        <p:txBody>
          <a:bodyPr wrap="square" lIns="0" tIns="0" rIns="0" bIns="0" rtlCol="0" anchor="ctr"/>
          <a:lstStyle/>
          <a:p>
            <a:pPr indent="0" marL="0">
              <a:lnSpc>
                <a:spcPct val="115000"/>
              </a:lnSpc>
              <a:buNone/>
            </a:pPr>
            <a:r>
              <a:rPr lang="en-US" sz="1400" dirty="0">
                <a:solidFill>
                  <a:srgbClr val="23272E"/>
                </a:solidFill>
                <a:latin typeface="Calibri" pitchFamily="34" charset="0"/>
                <a:ea typeface="Calibri" pitchFamily="34" charset="-122"/>
                <a:cs typeface="Calibri" pitchFamily="34" charset="-120"/>
              </a:rPr>
              <a:t>Simulated with Icarus Verilog against operands taken from the benchmark's REAL scene — the same camera and spheres bench_raytrace() constructs, with expected results computed in double precision.</a:t>
            </a:r>
            <a:endParaRPr lang="en-US" sz="1400" dirty="0"/>
          </a:p>
        </p:txBody>
      </p:sp>
      <p:sp>
        <p:nvSpPr>
          <p:cNvPr id="5" name="Shape 3"/>
          <p:cNvSpPr/>
          <p:nvPr/>
        </p:nvSpPr>
        <p:spPr>
          <a:xfrm>
            <a:off x="594360" y="2011680"/>
            <a:ext cx="6858000" cy="2606040"/>
          </a:xfrm>
          <a:prstGeom prst="roundRect">
            <a:avLst>
              <a:gd name="adj" fmla="val 2105"/>
            </a:avLst>
          </a:prstGeom>
          <a:solidFill>
            <a:srgbClr val="24282F"/>
          </a:solidFill>
          <a:ln/>
        </p:spPr>
      </p:sp>
      <p:sp>
        <p:nvSpPr>
          <p:cNvPr id="6" name="Text 4"/>
          <p:cNvSpPr txBox="1"/>
          <p:nvPr/>
        </p:nvSpPr>
        <p:spPr>
          <a:xfrm>
            <a:off x="868680" y="2240280"/>
            <a:ext cx="6400800" cy="2194560"/>
          </a:xfrm>
          <a:prstGeom prst="rect">
            <a:avLst/>
          </a:prstGeom>
          <a:noFill/>
          <a:ln/>
        </p:spPr>
        <p:txBody>
          <a:bodyPr wrap="square" lIns="0" tIns="0" rIns="0" bIns="0" rtlCol="0" anchor="ctr"/>
          <a:lstStyle/>
          <a:p>
            <a:pPr indent="0" marL="0">
              <a:lnSpc>
                <a:spcPct val="120000"/>
              </a:lnSpc>
              <a:buNone/>
            </a:pPr>
            <a:r>
              <a:rPr lang="en-US" sz="1100" dirty="0">
                <a:solidFill>
                  <a:srgbClr val="8FD9C0"/>
                </a:solidFill>
                <a:latin typeface="Courier New" pitchFamily="34" charset="0"/>
                <a:ea typeface="Courier New" pitchFamily="34" charset="-122"/>
                <a:cs typeface="Courier New" pitchFamily="34" charset="-120"/>
              </a:rPr>
              <a:t>  [ ok ] sphere 0: HIT  t=18.744263  (err 59 LSB)</a:t>
            </a:r>
            <a:endParaRPr lang="en-US" sz="1100" dirty="0"/>
          </a:p>
          <a:p>
            <a:pPr indent="0" marL="0">
              <a:lnSpc>
                <a:spcPct val="120000"/>
              </a:lnSpc>
              <a:buNone/>
            </a:pPr>
            <a:r>
              <a:rPr lang="en-US" sz="1100" dirty="0">
                <a:solidFill>
                  <a:srgbClr val="8FD9C0"/>
                </a:solidFill>
                <a:latin typeface="Courier New" pitchFamily="34" charset="0"/>
                <a:ea typeface="Courier New" pitchFamily="34" charset="-122"/>
                <a:cs typeface="Courier New" pitchFamily="34" charset="-120"/>
              </a:rPr>
              <a:t>  [ ok ] sphere 1..7: MISS</a:t>
            </a:r>
            <a:endParaRPr lang="en-US" sz="1100" dirty="0"/>
          </a:p>
          <a:p>
            <a:pPr indent="0" marL="0">
              <a:lnSpc>
                <a:spcPct val="120000"/>
              </a:lnSpc>
              <a:buNone/>
            </a:pPr>
            <a:r>
              <a:rPr lang="en-US" sz="1100" dirty="0">
                <a:solidFill>
                  <a:srgbClr val="8FD9C0"/>
                </a:solidFill>
                <a:latin typeface="Courier New" pitchFamily="34" charset="0"/>
                <a:ea typeface="Courier New" pitchFamily="34" charset="-122"/>
                <a:cs typeface="Courier New" pitchFamily="34" charset="-120"/>
              </a:rPr>
              <a:t>  [ ok ] sphere 8: HIT  t=-2.004745  (err 1 LSB)</a:t>
            </a:r>
            <a:endParaRPr lang="en-US" sz="1100" dirty="0"/>
          </a:p>
          <a:p>
            <a:pPr indent="0" marL="0">
              <a:lnSpc>
                <a:spcPct val="120000"/>
              </a:lnSpc>
              <a:buNone/>
            </a:pPr>
            <a:r>
              <a:rPr lang="en-US" sz="1100" dirty="0">
                <a:solidFill>
                  <a:srgbClr val="8FD9C0"/>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8FD9C0"/>
                </a:solidFill>
                <a:latin typeface="Courier New" pitchFamily="34" charset="0"/>
                <a:ea typeface="Courier New" pitchFamily="34" charset="-122"/>
                <a:cs typeface="Courier New" pitchFamily="34" charset="-120"/>
              </a:rPr>
              <a:t>  spheres issued   : 9  (on 9 consecutive cycles)</a:t>
            </a:r>
            <a:endParaRPr lang="en-US" sz="1100" dirty="0"/>
          </a:p>
          <a:p>
            <a:pPr indent="0" marL="0">
              <a:lnSpc>
                <a:spcPct val="120000"/>
              </a:lnSpc>
              <a:buNone/>
            </a:pPr>
            <a:r>
              <a:rPr lang="en-US" sz="1100" dirty="0">
                <a:solidFill>
                  <a:srgbClr val="8FD9C0"/>
                </a:solidFill>
                <a:latin typeface="Courier New" pitchFamily="34" charset="0"/>
                <a:ea typeface="Courier New" pitchFamily="34" charset="-122"/>
                <a:cs typeface="Courier New" pitchFamily="34" charset="-120"/>
              </a:rPr>
              <a:t>  results received : 9</a:t>
            </a:r>
            <a:endParaRPr lang="en-US" sz="1100" dirty="0"/>
          </a:p>
          <a:p>
            <a:pPr indent="0" marL="0">
              <a:lnSpc>
                <a:spcPct val="120000"/>
              </a:lnSpc>
              <a:buNone/>
            </a:pPr>
            <a:r>
              <a:rPr lang="en-US" sz="1100" dirty="0">
                <a:solidFill>
                  <a:srgbClr val="8FD9C0"/>
                </a:solidFill>
                <a:latin typeface="Courier New" pitchFamily="34" charset="0"/>
                <a:ea typeface="Courier New" pitchFamily="34" charset="-122"/>
                <a:cs typeface="Courier New" pitchFamily="34" charset="-120"/>
              </a:rPr>
              <a:t>  pipeline latency : 30 cycles</a:t>
            </a:r>
            <a:endParaRPr lang="en-US" sz="1100" dirty="0"/>
          </a:p>
          <a:p>
            <a:pPr indent="0" marL="0">
              <a:lnSpc>
                <a:spcPct val="120000"/>
              </a:lnSpc>
              <a:buNone/>
            </a:pPr>
            <a:r>
              <a:rPr lang="en-US" sz="1100" dirty="0">
                <a:solidFill>
                  <a:srgbClr val="8FD9C0"/>
                </a:solidFill>
                <a:latin typeface="Courier New" pitchFamily="34" charset="0"/>
                <a:ea typeface="Courier New" pitchFamily="34" charset="-122"/>
                <a:cs typeface="Courier New" pitchFamily="34" charset="-120"/>
              </a:rPr>
              <a:t>  RESULT: PASS -- 9/9 correct, full throughput</a:t>
            </a:r>
            <a:endParaRPr lang="en-US" sz="1100" dirty="0"/>
          </a:p>
        </p:txBody>
      </p:sp>
      <p:sp>
        <p:nvSpPr>
          <p:cNvPr id="7" name="Shape 5"/>
          <p:cNvSpPr/>
          <p:nvPr/>
        </p:nvSpPr>
        <p:spPr>
          <a:xfrm>
            <a:off x="7680960" y="2011680"/>
            <a:ext cx="3886200" cy="2606040"/>
          </a:xfrm>
          <a:prstGeom prst="roundRect">
            <a:avLst>
              <a:gd name="adj" fmla="val 2105"/>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8" name="Text 6"/>
          <p:cNvSpPr txBox="1"/>
          <p:nvPr/>
        </p:nvSpPr>
        <p:spPr>
          <a:xfrm>
            <a:off x="7955280" y="2194560"/>
            <a:ext cx="3383280" cy="274320"/>
          </a:xfrm>
          <a:prstGeom prst="rect">
            <a:avLst/>
          </a:prstGeom>
          <a:noFill/>
          <a:ln/>
        </p:spPr>
        <p:txBody>
          <a:bodyPr wrap="square" lIns="0" tIns="0" rIns="0" bIns="0" rtlCol="0" anchor="ctr"/>
          <a:lstStyle/>
          <a:p>
            <a:pPr indent="0" marL="0">
              <a:buNone/>
            </a:pPr>
            <a:r>
              <a:rPr lang="en-US" sz="1500" b="1" dirty="0">
                <a:solidFill>
                  <a:srgbClr val="23272E"/>
                </a:solidFill>
                <a:latin typeface="Cambria" pitchFamily="34" charset="0"/>
                <a:ea typeface="Cambria" pitchFamily="34" charset="-122"/>
                <a:cs typeface="Cambria" pitchFamily="34" charset="-120"/>
              </a:rPr>
              <a:t>What it proves</a:t>
            </a:r>
            <a:endParaRPr lang="en-US" sz="1500" dirty="0"/>
          </a:p>
        </p:txBody>
      </p:sp>
      <p:sp>
        <p:nvSpPr>
          <p:cNvPr id="9" name="Text 7"/>
          <p:cNvSpPr txBox="1"/>
          <p:nvPr/>
        </p:nvSpPr>
        <p:spPr>
          <a:xfrm>
            <a:off x="7955280" y="2560320"/>
            <a:ext cx="3383280" cy="18288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23272E"/>
                </a:solidFill>
                <a:latin typeface="Calibri" pitchFamily="34" charset="0"/>
                <a:ea typeface="Calibri" pitchFamily="34" charset="-122"/>
                <a:cs typeface="Calibri" pitchFamily="34" charset="-120"/>
              </a:rPr>
              <a:t>hit/miss correct on all 9</a:t>
            </a:r>
            <a:endParaRPr lang="en-US" sz="1200" dirty="0"/>
          </a:p>
          <a:p>
            <a:pPr marL="342900" indent="-342900">
              <a:spcAft>
                <a:spcPts val="800"/>
              </a:spcAft>
              <a:buSzPct val="100000"/>
              <a:buChar char="•"/>
            </a:pPr>
            <a:r>
              <a:rPr lang="en-US" sz="1200" dirty="0">
                <a:solidFill>
                  <a:srgbClr val="23272E"/>
                </a:solidFill>
                <a:latin typeface="Calibri" pitchFamily="34" charset="0"/>
                <a:ea typeface="Calibri" pitchFamily="34" charset="-122"/>
                <a:cs typeface="Calibri" pitchFamily="34" charset="-120"/>
              </a:rPr>
              <a:t>covers a negative-t case (camera inside a sphere)</a:t>
            </a:r>
            <a:endParaRPr lang="en-US" sz="1200" dirty="0"/>
          </a:p>
          <a:p>
            <a:pPr marL="342900" indent="-342900">
              <a:spcAft>
                <a:spcPts val="800"/>
              </a:spcAft>
              <a:buSzPct val="100000"/>
              <a:buChar char="•"/>
            </a:pPr>
            <a:r>
              <a:rPr lang="en-US" sz="1200" dirty="0">
                <a:solidFill>
                  <a:srgbClr val="23272E"/>
                </a:solidFill>
                <a:latin typeface="Calibri" pitchFamily="34" charset="0"/>
                <a:ea typeface="Calibri" pitchFamily="34" charset="-122"/>
                <a:cs typeface="Calibri" pitchFamily="34" charset="-120"/>
              </a:rPr>
              <a:t>throughput verified, not assumed — 9 in, 9 out, in order</a:t>
            </a:r>
            <a:endParaRPr lang="en-US" sz="1200" dirty="0"/>
          </a:p>
        </p:txBody>
      </p:sp>
      <p:sp>
        <p:nvSpPr>
          <p:cNvPr id="10" name="Text 8"/>
          <p:cNvSpPr txBox="1"/>
          <p:nvPr/>
        </p:nvSpPr>
        <p:spPr>
          <a:xfrm>
            <a:off x="594360" y="4892040"/>
            <a:ext cx="10881360" cy="640080"/>
          </a:xfrm>
          <a:prstGeom prst="rect">
            <a:avLst/>
          </a:prstGeom>
          <a:noFill/>
          <a:ln/>
        </p:spPr>
        <p:txBody>
          <a:bodyPr wrap="square" lIns="0" tIns="0" rIns="0" bIns="0"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The specification does not require synthesis or physical testing — but a design that passes a self-checking simulation against the benchmark's own data is a much stronger claim than untested RTL.</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D23"/>
        </a:solidFill>
      </p:bgPr>
    </p:bg>
    <p:spTree>
      <p:nvGrpSpPr>
        <p:cNvPr id="1" name=""/>
        <p:cNvGrpSpPr/>
        <p:nvPr/>
      </p:nvGrpSpPr>
      <p:grpSpPr>
        <a:xfrm>
          <a:off x="0" y="0"/>
          <a:ext cx="0" cy="0"/>
          <a:chOff x="0" y="0"/>
          <a:chExt cx="0" cy="0"/>
        </a:xfrm>
      </p:grpSpPr>
      <p:sp>
        <p:nvSpPr>
          <p:cNvPr id="2" name="Text 0"/>
          <p:cNvSpPr txBox="1"/>
          <p:nvPr/>
        </p:nvSpPr>
        <p:spPr>
          <a:xfrm>
            <a:off x="594360" y="777240"/>
            <a:ext cx="10881360" cy="54864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first simulation failed — and the reason was worth having</a:t>
            </a:r>
            <a:endParaRPr lang="en-US" sz="2700" dirty="0"/>
          </a:p>
        </p:txBody>
      </p:sp>
      <p:sp>
        <p:nvSpPr>
          <p:cNvPr id="3" name="Shape 1"/>
          <p:cNvSpPr/>
          <p:nvPr/>
        </p:nvSpPr>
        <p:spPr>
          <a:xfrm>
            <a:off x="594360" y="1691640"/>
            <a:ext cx="6675120" cy="1234440"/>
          </a:xfrm>
          <a:prstGeom prst="roundRect">
            <a:avLst>
              <a:gd name="adj" fmla="val 4444"/>
            </a:avLst>
          </a:prstGeom>
          <a:solidFill>
            <a:srgbClr val="24282F"/>
          </a:solidFill>
          <a:ln/>
        </p:spPr>
      </p:sp>
      <p:sp>
        <p:nvSpPr>
          <p:cNvPr id="4" name="Text 2"/>
          <p:cNvSpPr txBox="1"/>
          <p:nvPr/>
        </p:nvSpPr>
        <p:spPr>
          <a:xfrm>
            <a:off x="868680" y="1920240"/>
            <a:ext cx="6126480" cy="822960"/>
          </a:xfrm>
          <a:prstGeom prst="rect">
            <a:avLst/>
          </a:prstGeom>
          <a:noFill/>
          <a:ln/>
        </p:spPr>
        <p:txBody>
          <a:bodyPr wrap="square" lIns="0" tIns="0" rIns="0" bIns="0" rtlCol="0" anchor="ctr"/>
          <a:lstStyle/>
          <a:p>
            <a:pPr indent="0" marL="0">
              <a:buNone/>
            </a:pPr>
            <a:r>
              <a:rPr lang="en-US" sz="1400" dirty="0">
                <a:solidFill>
                  <a:srgbClr val="F0A080"/>
                </a:solidFill>
                <a:latin typeface="Courier New" pitchFamily="34" charset="0"/>
                <a:ea typeface="Courier New" pitchFamily="34" charset="-122"/>
                <a:cs typeface="Courier New" pitchFamily="34" charset="-120"/>
              </a:rPr>
              <a:t>disc = r·r − (cp·cp − v·v)</a:t>
            </a:r>
            <a:endParaRPr lang="en-US" sz="1400" dirty="0"/>
          </a:p>
          <a:p>
            <a:pPr indent="0" marL="0">
              <a:buNone/>
            </a:pPr>
            <a:r>
              <a:rPr lang="en-US" sz="1400" dirty="0">
                <a:solidFill>
                  <a:srgbClr val="F0A080"/>
                </a:solidFill>
                <a:latin typeface="Courier New" pitchFamily="34" charset="0"/>
                <a:ea typeface="Courier New" pitchFamily="34" charset="-122"/>
                <a:cs typeface="Courier New" pitchFamily="34" charset="-120"/>
              </a:rPr>
              <a:t>     =  4  − ( 402.44 − 400.02 )  =  1.58</a:t>
            </a:r>
            <a:endParaRPr lang="en-US" sz="1400" dirty="0"/>
          </a:p>
        </p:txBody>
      </p:sp>
      <p:sp>
        <p:nvSpPr>
          <p:cNvPr id="5" name="Text 3"/>
          <p:cNvSpPr txBox="1"/>
          <p:nvPr/>
        </p:nvSpPr>
        <p:spPr>
          <a:xfrm>
            <a:off x="594360" y="3108960"/>
            <a:ext cx="6675120" cy="640080"/>
          </a:xfrm>
          <a:prstGeom prst="rect">
            <a:avLst/>
          </a:prstGeom>
          <a:noFill/>
          <a:ln/>
        </p:spPr>
        <p:txBody>
          <a:bodyPr wrap="square" lIns="0" tIns="0" rIns="0" bIns="0" rtlCol="0" anchor="ctr"/>
          <a:lstStyle/>
          <a:p>
            <a:pPr indent="0" marL="0">
              <a:buNone/>
            </a:pPr>
            <a:r>
              <a:rPr lang="en-US" sz="1400" dirty="0">
                <a:solidFill>
                  <a:srgbClr val="C8CCD2"/>
                </a:solidFill>
                <a:latin typeface="Calibri" pitchFamily="34" charset="0"/>
                <a:ea typeface="Calibri" pitchFamily="34" charset="-122"/>
                <a:cs typeface="Calibri" pitchFamily="34" charset="-120"/>
              </a:rPr>
              <a:t>Two large, nearly equal numbers cancel to a small one. That amplifies any pre-existing error in v by roughly 2v/disc ≈ 25×.</a:t>
            </a:r>
            <a:endParaRPr lang="en-US" sz="1400" dirty="0"/>
          </a:p>
        </p:txBody>
      </p:sp>
      <p:sp>
        <p:nvSpPr>
          <p:cNvPr id="6" name="Text 4"/>
          <p:cNvSpPr txBox="1"/>
          <p:nvPr/>
        </p:nvSpPr>
        <p:spPr>
          <a:xfrm>
            <a:off x="594360" y="3794760"/>
            <a:ext cx="6675120" cy="9144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We were rounding v to Q16.16 BEFORE squaring it, so a 1 LSB truncation became a 67 LSB error in the answer. Keeping the dot products at full Q32.32 through the cancellation brought it to 59 LSB.</a:t>
            </a:r>
            <a:endParaRPr lang="en-US" sz="1400" dirty="0"/>
          </a:p>
        </p:txBody>
      </p:sp>
      <p:sp>
        <p:nvSpPr>
          <p:cNvPr id="7" name="Shape 5"/>
          <p:cNvSpPr/>
          <p:nvPr/>
        </p:nvSpPr>
        <p:spPr>
          <a:xfrm>
            <a:off x="7589520" y="1691640"/>
            <a:ext cx="3977640" cy="3154680"/>
          </a:xfrm>
          <a:prstGeom prst="roundRect">
            <a:avLst>
              <a:gd name="adj" fmla="val 2319"/>
            </a:avLst>
          </a:prstGeom>
          <a:solidFill>
            <a:srgbClr val="2A2119"/>
          </a:solidFill>
          <a:ln w="12700">
            <a:solidFill>
              <a:srgbClr val="E8552D"/>
            </a:solidFill>
            <a:prstDash val="solid"/>
          </a:ln>
        </p:spPr>
      </p:sp>
      <p:sp>
        <p:nvSpPr>
          <p:cNvPr id="8" name="Text 6"/>
          <p:cNvSpPr txBox="1"/>
          <p:nvPr/>
        </p:nvSpPr>
        <p:spPr>
          <a:xfrm>
            <a:off x="7863840" y="1920240"/>
            <a:ext cx="3474720" cy="274320"/>
          </a:xfrm>
          <a:prstGeom prst="rect">
            <a:avLst/>
          </a:prstGeom>
          <a:noFill/>
          <a:ln/>
        </p:spPr>
        <p:txBody>
          <a:bodyPr wrap="square" lIns="0" tIns="0" rIns="0" bIns="0" rtlCol="0" anchor="ctr"/>
          <a:lstStyle/>
          <a:p>
            <a:pPr indent="0" marL="0">
              <a:buNone/>
            </a:pPr>
            <a:r>
              <a:rPr lang="en-US" sz="1100" b="1" spc="100" kern="0" dirty="0">
                <a:solidFill>
                  <a:srgbClr val="E8552D"/>
                </a:solidFill>
                <a:latin typeface="Calibri" pitchFamily="34" charset="0"/>
                <a:ea typeface="Calibri" pitchFamily="34" charset="-122"/>
                <a:cs typeface="Calibri" pitchFamily="34" charset="-120"/>
              </a:rPr>
              <a:t>How we know that's the cause</a:t>
            </a:r>
            <a:endParaRPr lang="en-US" sz="1100" dirty="0"/>
          </a:p>
        </p:txBody>
      </p:sp>
      <p:sp>
        <p:nvSpPr>
          <p:cNvPr id="9" name="Text 7"/>
          <p:cNvSpPr txBox="1"/>
          <p:nvPr/>
        </p:nvSpPr>
        <p:spPr>
          <a:xfrm>
            <a:off x="7863840" y="2286000"/>
            <a:ext cx="3474720" cy="12801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Sphere 8 — where the camera sits INSIDE the sphere, so no cancellation occurs —</a:t>
            </a:r>
            <a:endParaRPr lang="en-US" sz="1350" dirty="0"/>
          </a:p>
          <a:p>
            <a:pPr indent="0" marL="0">
              <a:buNone/>
            </a:pP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is accurate to 1 LSB.</a:t>
            </a:r>
            <a:endParaRPr lang="en-US" sz="1350" dirty="0"/>
          </a:p>
        </p:txBody>
      </p:sp>
      <p:sp>
        <p:nvSpPr>
          <p:cNvPr id="10" name="Text 8"/>
          <p:cNvSpPr txBox="1"/>
          <p:nvPr/>
        </p:nvSpPr>
        <p:spPr>
          <a:xfrm>
            <a:off x="7863840" y="3657600"/>
            <a:ext cx="3474720" cy="914400"/>
          </a:xfrm>
          <a:prstGeom prst="rect">
            <a:avLst/>
          </a:prstGeom>
          <a:noFill/>
          <a:ln/>
        </p:spPr>
        <p:txBody>
          <a:bodyPr wrap="square" lIns="0" tIns="0" rIns="0" bIns="0" rtlCol="0" anchor="ctr"/>
          <a:lstStyle/>
          <a:p>
            <a:pPr indent="0" marL="0">
              <a:buNone/>
            </a:pPr>
            <a:r>
              <a:rPr lang="en-US" sz="1200" dirty="0">
                <a:solidFill>
                  <a:srgbClr val="C8CCD2"/>
                </a:solidFill>
                <a:latin typeface="Calibri" pitchFamily="34" charset="0"/>
                <a:ea typeface="Calibri" pitchFamily="34" charset="-122"/>
                <a:cs typeface="Calibri" pitchFamily="34" charset="-120"/>
              </a:rPr>
              <a:t>Same datapath, same format. The only difference is whether the subtraction cancels.</a:t>
            </a:r>
            <a:endParaRPr lang="en-US" sz="1200" dirty="0"/>
          </a:p>
        </p:txBody>
      </p:sp>
      <p:sp>
        <p:nvSpPr>
          <p:cNvPr id="11" name="Text 9"/>
          <p:cNvSpPr txBox="1"/>
          <p:nvPr/>
        </p:nvSpPr>
        <p:spPr>
          <a:xfrm>
            <a:off x="594360" y="5074920"/>
            <a:ext cx="10881360" cy="731520"/>
          </a:xfrm>
          <a:prstGeom prst="rect">
            <a:avLst/>
          </a:prstGeom>
          <a:noFill/>
          <a:ln/>
        </p:spPr>
        <p:txBody>
          <a:bodyPr wrap="square" lIns="0" tIns="0" rIns="0" bIns="0" rtlCol="0" anchor="ctr"/>
          <a:lstStyle/>
          <a:p>
            <a:pPr indent="0" marL="0">
              <a:buNone/>
            </a:pPr>
            <a:r>
              <a:rPr lang="en-US" sz="1300" dirty="0">
                <a:solidFill>
                  <a:srgbClr val="9AA0A6"/>
                </a:solidFill>
                <a:latin typeface="Calibri" pitchFamily="34" charset="0"/>
                <a:ea typeface="Calibri" pitchFamily="34" charset="-122"/>
                <a:cs typeface="Calibri" pitchFamily="34" charset="-120"/>
              </a:rPr>
              <a:t>Remaining error traced to input quantisation of the ray direction. The fix: a direction is a UNIT vector, so Q16.16 wastes 15 integer bits on a value that can never exceed 1 — Q2.30 would buy 14 fractional bits at zero cost.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EXPECTED PERFORMANCE</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The honest ceiling</a:t>
            </a:r>
            <a:endParaRPr lang="en-US" sz="3200" dirty="0"/>
          </a:p>
        </p:txBody>
      </p:sp>
      <p:sp>
        <p:nvSpPr>
          <p:cNvPr id="4" name="Shape 2"/>
          <p:cNvSpPr/>
          <p:nvPr/>
        </p:nvSpPr>
        <p:spPr>
          <a:xfrm>
            <a:off x="594360" y="1463040"/>
            <a:ext cx="3429000" cy="1828800"/>
          </a:xfrm>
          <a:prstGeom prst="roundRect">
            <a:avLst>
              <a:gd name="adj" fmla="val 3000"/>
            </a:avLst>
          </a:prstGeom>
          <a:solidFill>
            <a:srgbClr val="EAF5F5"/>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5" name="Text 3"/>
          <p:cNvSpPr txBox="1"/>
          <p:nvPr/>
        </p:nvSpPr>
        <p:spPr>
          <a:xfrm>
            <a:off x="822960" y="1691640"/>
            <a:ext cx="3017520" cy="457200"/>
          </a:xfrm>
          <a:prstGeom prst="rect">
            <a:avLst/>
          </a:prstGeom>
          <a:noFill/>
          <a:ln/>
        </p:spPr>
        <p:txBody>
          <a:bodyPr wrap="square" lIns="0" tIns="0" rIns="0" bIns="0" rtlCol="0" anchor="ctr"/>
          <a:lstStyle/>
          <a:p>
            <a:pPr indent="0" marL="0">
              <a:buNone/>
            </a:pPr>
            <a:r>
              <a:rPr lang="en-US" sz="2100" b="1" dirty="0">
                <a:solidFill>
                  <a:srgbClr val="2D9596"/>
                </a:solidFill>
                <a:latin typeface="Cambria" pitchFamily="34" charset="0"/>
                <a:ea typeface="Cambria" pitchFamily="34" charset="-122"/>
                <a:cs typeface="Cambria" pitchFamily="34" charset="-120"/>
              </a:rPr>
              <a:t>~202 ms  →  ~1 ms</a:t>
            </a:r>
            <a:endParaRPr lang="en-US" sz="2100" dirty="0"/>
          </a:p>
        </p:txBody>
      </p:sp>
      <p:sp>
        <p:nvSpPr>
          <p:cNvPr id="6" name="Text 4"/>
          <p:cNvSpPr txBox="1"/>
          <p:nvPr/>
        </p:nvSpPr>
        <p:spPr>
          <a:xfrm>
            <a:off x="822960" y="2194560"/>
            <a:ext cx="3017520" cy="914400"/>
          </a:xfrm>
          <a:prstGeom prst="rect">
            <a:avLst/>
          </a:prstGeom>
          <a:noFill/>
          <a:ln/>
        </p:spPr>
        <p:txBody>
          <a:bodyPr wrap="square" lIns="0" tIns="0" rIns="0" bIns="0" rtlCol="0" anchor="ctr"/>
          <a:lstStyle/>
          <a:p>
            <a:pPr indent="0" marL="0">
              <a:buNone/>
            </a:pPr>
            <a:r>
              <a:rPr lang="en-US" sz="1200" dirty="0">
                <a:solidFill>
                  <a:srgbClr val="23272E"/>
                </a:solidFill>
                <a:latin typeface="Calibri" pitchFamily="34" charset="0"/>
                <a:ea typeface="Calibri" pitchFamily="34" charset="-122"/>
                <a:cs typeface="Calibri" pitchFamily="34" charset="-120"/>
              </a:rPr>
              <a:t>time spent in intersectionTime, replaced by 194,790 cycles at 200 MHz</a:t>
            </a:r>
            <a:endParaRPr lang="en-US" sz="1200" dirty="0"/>
          </a:p>
        </p:txBody>
      </p:sp>
      <p:sp>
        <p:nvSpPr>
          <p:cNvPr id="7" name="Shape 5"/>
          <p:cNvSpPr/>
          <p:nvPr/>
        </p:nvSpPr>
        <p:spPr>
          <a:xfrm>
            <a:off x="4251960" y="1463040"/>
            <a:ext cx="3429000" cy="1828800"/>
          </a:xfrm>
          <a:prstGeom prst="roundRect">
            <a:avLst>
              <a:gd name="adj" fmla="val 3000"/>
            </a:avLst>
          </a:prstGeom>
          <a:solidFill>
            <a:srgbClr val="FDF1EC"/>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8" name="Text 6"/>
          <p:cNvSpPr txBox="1"/>
          <p:nvPr/>
        </p:nvSpPr>
        <p:spPr>
          <a:xfrm>
            <a:off x="4480560" y="1645920"/>
            <a:ext cx="3017520" cy="594360"/>
          </a:xfrm>
          <a:prstGeom prst="rect">
            <a:avLst/>
          </a:prstGeom>
          <a:noFill/>
          <a:ln/>
        </p:spPr>
        <p:txBody>
          <a:bodyPr wrap="square" lIns="0" tIns="0" rIns="0" bIns="0" rtlCol="0" anchor="ctr"/>
          <a:lstStyle/>
          <a:p>
            <a:pPr indent="0" marL="0">
              <a:buNone/>
            </a:pPr>
            <a:r>
              <a:rPr lang="en-US" sz="3400" b="1" dirty="0">
                <a:solidFill>
                  <a:srgbClr val="E8552D"/>
                </a:solidFill>
                <a:latin typeface="Cambria" pitchFamily="34" charset="0"/>
                <a:ea typeface="Cambria" pitchFamily="34" charset="-122"/>
                <a:cs typeface="Cambria" pitchFamily="34" charset="-120"/>
              </a:rPr>
              <a:t>1.39×</a:t>
            </a:r>
            <a:endParaRPr lang="en-US" sz="3400" dirty="0"/>
          </a:p>
        </p:txBody>
      </p:sp>
      <p:sp>
        <p:nvSpPr>
          <p:cNvPr id="9" name="Text 7"/>
          <p:cNvSpPr txBox="1"/>
          <p:nvPr/>
        </p:nvSpPr>
        <p:spPr>
          <a:xfrm>
            <a:off x="4480560" y="2240280"/>
            <a:ext cx="3017520" cy="822960"/>
          </a:xfrm>
          <a:prstGeom prst="rect">
            <a:avLst/>
          </a:prstGeom>
          <a:noFill/>
          <a:ln/>
        </p:spPr>
        <p:txBody>
          <a:bodyPr wrap="square" lIns="0" tIns="0" rIns="0" bIns="0" rtlCol="0" anchor="ctr"/>
          <a:lstStyle/>
          <a:p>
            <a:pPr indent="0" marL="0">
              <a:buNone/>
            </a:pPr>
            <a:r>
              <a:rPr lang="en-US" sz="1200" dirty="0">
                <a:solidFill>
                  <a:srgbClr val="23272E"/>
                </a:solidFill>
                <a:latin typeface="Calibri" pitchFamily="34" charset="0"/>
                <a:ea typeface="Calibri" pitchFamily="34" charset="-122"/>
                <a:cs typeface="Calibri" pitchFamily="34" charset="-120"/>
              </a:rPr>
              <a:t>maximum end-to-end speedup.  S = 1 / (1 − 0.281)</a:t>
            </a:r>
            <a:endParaRPr lang="en-US" sz="1200" dirty="0"/>
          </a:p>
        </p:txBody>
      </p:sp>
      <p:sp>
        <p:nvSpPr>
          <p:cNvPr id="10" name="Shape 8"/>
          <p:cNvSpPr/>
          <p:nvPr/>
        </p:nvSpPr>
        <p:spPr>
          <a:xfrm>
            <a:off x="7955280" y="1463040"/>
            <a:ext cx="3611880" cy="1828800"/>
          </a:xfrm>
          <a:prstGeom prst="roundRect">
            <a:avLst>
              <a:gd name="adj" fmla="val 3000"/>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1" name="Text 9"/>
          <p:cNvSpPr txBox="1"/>
          <p:nvPr/>
        </p:nvSpPr>
        <p:spPr>
          <a:xfrm>
            <a:off x="8183880" y="1664208"/>
            <a:ext cx="3200400" cy="274320"/>
          </a:xfrm>
          <a:prstGeom prst="rect">
            <a:avLst/>
          </a:prstGeom>
          <a:noFill/>
          <a:ln/>
        </p:spPr>
        <p:txBody>
          <a:bodyPr wrap="square" lIns="0" tIns="0" rIns="0" bIns="0" rtlCol="0" anchor="ctr"/>
          <a:lstStyle/>
          <a:p>
            <a:pPr indent="0" marL="0">
              <a:buNone/>
            </a:pPr>
            <a:r>
              <a:rPr lang="en-US" sz="1500" b="1" dirty="0">
                <a:solidFill>
                  <a:srgbClr val="23272E"/>
                </a:solidFill>
                <a:latin typeface="Cambria" pitchFamily="34" charset="0"/>
                <a:ea typeface="Cambria" pitchFamily="34" charset="-122"/>
                <a:cs typeface="Cambria" pitchFamily="34" charset="-120"/>
              </a:rPr>
              <a:t>A wider unit is pointless</a:t>
            </a:r>
            <a:endParaRPr lang="en-US" sz="1500" dirty="0"/>
          </a:p>
        </p:txBody>
      </p:sp>
      <p:sp>
        <p:nvSpPr>
          <p:cNvPr id="12" name="Text 10"/>
          <p:cNvSpPr txBox="1"/>
          <p:nvPr/>
        </p:nvSpPr>
        <p:spPr>
          <a:xfrm>
            <a:off x="8183880" y="2011680"/>
            <a:ext cx="3200400" cy="1097280"/>
          </a:xfrm>
          <a:prstGeom prst="rect">
            <a:avLst/>
          </a:prstGeom>
          <a:noFill/>
          <a:ln/>
        </p:spPr>
        <p:txBody>
          <a:bodyPr wrap="square" lIns="0" tIns="0" rIns="0" bIns="0" rtlCol="0" anchor="ctr"/>
          <a:lstStyle/>
          <a:p>
            <a:pPr indent="0" marL="0">
              <a:buNone/>
            </a:pPr>
            <a:r>
              <a:rPr lang="en-US" sz="1200" dirty="0">
                <a:solidFill>
                  <a:srgbClr val="23272E"/>
                </a:solidFill>
                <a:latin typeface="Calibri" pitchFamily="34" charset="0"/>
                <a:ea typeface="Calibri" pitchFamily="34" charset="-122"/>
                <a:cs typeface="Calibri" pitchFamily="34" charset="-120"/>
              </a:rPr>
              <a:t>A 9-wide array would cut 0.97 ms to 0.077 ms — and change the end-to-end result by well under 1 %.</a:t>
            </a:r>
            <a:endParaRPr lang="en-US" sz="1200" dirty="0"/>
          </a:p>
        </p:txBody>
      </p:sp>
      <p:sp>
        <p:nvSpPr>
          <p:cNvPr id="13" name="Text 11"/>
          <p:cNvSpPr txBox="1"/>
          <p:nvPr/>
        </p:nvSpPr>
        <p:spPr>
          <a:xfrm>
            <a:off x="594360" y="3611880"/>
            <a:ext cx="10881360" cy="411480"/>
          </a:xfrm>
          <a:prstGeom prst="rect">
            <a:avLst/>
          </a:prstGeom>
          <a:noFill/>
          <a:ln/>
        </p:spPr>
        <p:txBody>
          <a:bodyPr wrap="square" lIns="0" tIns="0" rIns="0" bIns="0" rtlCol="0" anchor="ctr"/>
          <a:lstStyle/>
          <a:p>
            <a:pPr indent="0" marL="0">
              <a:buNone/>
            </a:pPr>
            <a:r>
              <a:rPr lang="en-US" sz="2100" b="1" dirty="0">
                <a:solidFill>
                  <a:srgbClr val="23272E"/>
                </a:solidFill>
                <a:latin typeface="Cambria" pitchFamily="34" charset="0"/>
                <a:ea typeface="Cambria" pitchFamily="34" charset="-122"/>
                <a:cs typeface="Cambria" pitchFamily="34" charset="-120"/>
              </a:rPr>
              <a:t>Making the arithmetic free does not make the program fast.</a:t>
            </a:r>
            <a:endParaRPr lang="en-US" sz="2100" dirty="0"/>
          </a:p>
        </p:txBody>
      </p:sp>
      <p:sp>
        <p:nvSpPr>
          <p:cNvPr id="14" name="Text 12"/>
          <p:cNvSpPr txBox="1"/>
          <p:nvPr/>
        </p:nvSpPr>
        <p:spPr>
          <a:xfrm>
            <a:off x="594360" y="4023360"/>
            <a:ext cx="10881360" cy="1554480"/>
          </a:xfrm>
          <a:prstGeom prst="rect">
            <a:avLst/>
          </a:prstGeom>
          <a:noFill/>
          <a:ln/>
        </p:spPr>
        <p:txBody>
          <a:bodyPr wrap="square" lIns="0" tIns="0" rIns="0" bIns="0" rtlCol="0" anchor="ctr"/>
          <a:lstStyle/>
          <a:p>
            <a:pPr indent="0" marL="0">
              <a:lnSpc>
                <a:spcPct val="115000"/>
              </a:lnSpc>
              <a:buNone/>
            </a:pPr>
            <a:r>
              <a:rPr lang="en-US" sz="1400" dirty="0">
                <a:solidFill>
                  <a:srgbClr val="23272E"/>
                </a:solidFill>
                <a:latin typeface="Calibri" pitchFamily="34" charset="0"/>
                <a:ea typeface="Calibri" pitchFamily="34" charset="-122"/>
                <a:cs typeface="Calibri" pitchFamily="34" charset="-120"/>
              </a:rPr>
              <a:t>The accelerator removes essentially all of the geometry cost, and Amdahl still caps the benefit at 1.39×, because 72 % of the program is other Python. Once you have offloaded a hotspot, the bottleneck is what you did NOT offload.</a:t>
            </a:r>
            <a:endParaRPr lang="en-US" sz="1400" dirty="0"/>
          </a:p>
          <a:p>
            <a:pPr indent="0" marL="0">
              <a:lnSpc>
                <a:spcPct val="115000"/>
              </a:lnSpc>
              <a:buNone/>
            </a:pPr>
            <a:endParaRPr lang="en-US" sz="1400" dirty="0"/>
          </a:p>
          <a:p>
            <a:pPr indent="0" marL="0">
              <a:lnSpc>
                <a:spcPct val="115000"/>
              </a:lnSpc>
              <a:buNone/>
            </a:pPr>
            <a:r>
              <a:rPr lang="en-US" sz="1400" dirty="0">
                <a:solidFill>
                  <a:srgbClr val="23272E"/>
                </a:solidFill>
                <a:latin typeface="Calibri" pitchFamily="34" charset="0"/>
                <a:ea typeface="Calibri" pitchFamily="34" charset="-122"/>
                <a:cs typeface="Calibri" pitchFamily="34" charset="-120"/>
              </a:rPr>
              <a:t>So the way forward is not more multipliers — it is a LARGER offload. Moving the whole traversal loop (rayColour 10.1 %, _lightIsVisible 6.2 %, the half-space test 2.3 %) raises the offloadable fraction to ~47 % and the ceiling to 1.88×. That is a data-movement argument, not an arithmetic one.</a:t>
            </a:r>
            <a:endParaRPr lang="en-US" sz="1400" dirty="0"/>
          </a:p>
        </p:txBody>
      </p:sp>
      <p:sp>
        <p:nvSpPr>
          <p:cNvPr id="15" name="Text 13"/>
          <p:cNvSpPr txBox="1"/>
          <p:nvPr/>
        </p:nvSpPr>
        <p:spPr>
          <a:xfrm>
            <a:off x="594360" y="5715000"/>
            <a:ext cx="10881360" cy="36576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Caveat we state in the report: cProfile inflates frequently-called functions, so 28.1 % is likely an over-estimate — which makes 1.39× optimistic, not conservative.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5"/>
        </a:solidFill>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indent="0" marL="0">
              <a:buNone/>
            </a:pPr>
            <a:r>
              <a:rPr lang="en-US" sz="1100" b="1" spc="200" kern="0" dirty="0">
                <a:solidFill>
                  <a:srgbClr val="E8552D"/>
                </a:solidFill>
                <a:latin typeface="Calibri" pitchFamily="34" charset="0"/>
                <a:ea typeface="Calibri" pitchFamily="34" charset="-122"/>
                <a:cs typeface="Calibri" pitchFamily="34" charset="-120"/>
              </a:rPr>
              <a:t>TRADE-OFFS</a:t>
            </a:r>
            <a:endParaRPr lang="en-US" sz="1100" dirty="0"/>
          </a:p>
        </p:txBody>
      </p:sp>
      <p:sp>
        <p:nvSpPr>
          <p:cNvPr id="3" name="Text 1"/>
          <p:cNvSpPr txBox="1"/>
          <p:nvPr/>
        </p:nvSpPr>
        <p:spPr>
          <a:xfrm>
            <a:off x="594360" y="566928"/>
            <a:ext cx="10972800" cy="640080"/>
          </a:xfrm>
          <a:prstGeom prst="rect">
            <a:avLst/>
          </a:prstGeom>
          <a:noFill/>
          <a:ln/>
        </p:spPr>
        <p:txBody>
          <a:bodyPr wrap="square" lIns="0" tIns="0" rIns="0" bIns="0" rtlCol="0" anchor="ctr"/>
          <a:lstStyle/>
          <a:p>
            <a:pPr indent="0" marL="0">
              <a:buNone/>
            </a:pPr>
            <a:r>
              <a:rPr lang="en-US" sz="3200" b="1" dirty="0">
                <a:solidFill>
                  <a:srgbClr val="23272E"/>
                </a:solidFill>
                <a:latin typeface="Cambria" pitchFamily="34" charset="0"/>
                <a:ea typeface="Cambria" pitchFamily="34" charset="-122"/>
                <a:cs typeface="Cambria" pitchFamily="34" charset="-120"/>
              </a:rPr>
              <a:t>Performance, area and power</a:t>
            </a:r>
            <a:endParaRPr lang="en-US" sz="3200" dirty="0"/>
          </a:p>
        </p:txBody>
      </p:sp>
      <p:sp>
        <p:nvSpPr>
          <p:cNvPr id="4" name="Shape 2"/>
          <p:cNvSpPr/>
          <p:nvPr/>
        </p:nvSpPr>
        <p:spPr>
          <a:xfrm>
            <a:off x="594360" y="1463040"/>
            <a:ext cx="3538728" cy="3840480"/>
          </a:xfrm>
          <a:prstGeom prst="roundRect">
            <a:avLst>
              <a:gd name="adj" fmla="val 1550"/>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5" name="Text 3"/>
          <p:cNvSpPr txBox="1"/>
          <p:nvPr/>
        </p:nvSpPr>
        <p:spPr>
          <a:xfrm>
            <a:off x="850392" y="1664208"/>
            <a:ext cx="3017520" cy="320040"/>
          </a:xfrm>
          <a:prstGeom prst="rect">
            <a:avLst/>
          </a:prstGeom>
          <a:noFill/>
          <a:ln/>
        </p:spPr>
        <p:txBody>
          <a:bodyPr wrap="square" lIns="0" tIns="0" rIns="0" bIns="0" rtlCol="0" anchor="ctr"/>
          <a:lstStyle/>
          <a:p>
            <a:pPr indent="0" marL="0">
              <a:buNone/>
            </a:pPr>
            <a:r>
              <a:rPr lang="en-US" sz="1700" b="1" dirty="0">
                <a:solidFill>
                  <a:srgbClr val="2D9596"/>
                </a:solidFill>
                <a:latin typeface="Cambria" pitchFamily="34" charset="0"/>
                <a:ea typeface="Cambria" pitchFamily="34" charset="-122"/>
                <a:cs typeface="Cambria" pitchFamily="34" charset="-120"/>
              </a:rPr>
              <a:t>Area</a:t>
            </a:r>
            <a:endParaRPr lang="en-US" sz="1700" dirty="0"/>
          </a:p>
        </p:txBody>
      </p:sp>
      <p:sp>
        <p:nvSpPr>
          <p:cNvPr id="6" name="Text 4"/>
          <p:cNvSpPr txBox="1"/>
          <p:nvPr/>
        </p:nvSpPr>
        <p:spPr>
          <a:xfrm>
            <a:off x="850392" y="2084832"/>
            <a:ext cx="3017520" cy="3017520"/>
          </a:xfrm>
          <a:prstGeom prst="rect">
            <a:avLst/>
          </a:prstGeom>
          <a:noFill/>
          <a:ln/>
        </p:spPr>
        <p:txBody>
          <a:bodyPr wrap="square" lIns="0" tIns="0" rIns="0" bIns="0" rtlCol="0" anchor="ctr"/>
          <a:lstStyle/>
          <a:p>
            <a:pPr indent="0" marL="0">
              <a:lnSpc>
                <a:spcPct val="115000"/>
              </a:lnSpc>
              <a:buNone/>
            </a:pPr>
            <a:r>
              <a:rPr lang="en-US" sz="1150" dirty="0">
                <a:solidFill>
                  <a:srgbClr val="23272E"/>
                </a:solidFill>
                <a:latin typeface="Calibri" pitchFamily="34" charset="0"/>
                <a:ea typeface="Calibri" pitchFamily="34" charset="-122"/>
                <a:cs typeface="Calibri" pitchFamily="34" charset="-120"/>
              </a:rPr>
              <a:t>9 signed 32×32 multipliers (~9 DSP blocks)</a:t>
            </a:r>
            <a:endParaRPr lang="en-US" sz="1150" dirty="0"/>
          </a:p>
          <a:p>
            <a:pPr indent="0" marL="0">
              <a:lnSpc>
                <a:spcPct val="115000"/>
              </a:lnSpc>
              <a:buNone/>
            </a:pPr>
            <a:r>
              <a:rPr lang="en-US" sz="1150" dirty="0">
                <a:solidFill>
                  <a:srgbClr val="23272E"/>
                </a:solidFill>
                <a:latin typeface="Calibri" pitchFamily="34" charset="0"/>
                <a:ea typeface="Calibri" pitchFamily="34" charset="-122"/>
                <a:cs typeface="Calibri" pitchFamily="34" charset="-120"/>
              </a:rPr>
              <a:t>24 sqrt stages ≈ 2,400 flip-flops</a:t>
            </a:r>
            <a:endParaRPr lang="en-US" sz="1150" dirty="0"/>
          </a:p>
          <a:p>
            <a:pPr indent="0" marL="0">
              <a:lnSpc>
                <a:spcPct val="115000"/>
              </a:lnSpc>
              <a:buNone/>
            </a:pPr>
            <a:r>
              <a:rPr lang="en-US" sz="1150" dirty="0">
                <a:solidFill>
                  <a:srgbClr val="23272E"/>
                </a:solidFill>
                <a:latin typeface="Calibri" pitchFamily="34" charset="0"/>
                <a:ea typeface="Calibri" pitchFamily="34" charset="-122"/>
                <a:cs typeface="Calibri" pitchFamily="34" charset="-120"/>
              </a:rPr>
              <a:t>+ ~1,500 for datapath and delay lines</a:t>
            </a:r>
            <a:endParaRPr lang="en-US" sz="1150" dirty="0"/>
          </a:p>
          <a:p>
            <a:pPr indent="0" marL="0">
              <a:lnSpc>
                <a:spcPct val="115000"/>
              </a:lnSpc>
              <a:buNone/>
            </a:pPr>
            <a:r>
              <a:rPr lang="en-US" sz="1150" dirty="0">
                <a:solidFill>
                  <a:srgbClr val="23272E"/>
                </a:solidFill>
                <a:latin typeface="Calibri" pitchFamily="34" charset="0"/>
                <a:ea typeface="Calibri" pitchFamily="34" charset="-122"/>
                <a:cs typeface="Calibri" pitchFamily="34" charset="-120"/>
              </a:rPr>
              <a:t>two 32-deep FIFOs</a:t>
            </a:r>
            <a:endParaRPr lang="en-US" sz="1150" dirty="0"/>
          </a:p>
          <a:p>
            <a:pPr indent="0" marL="0">
              <a:lnSpc>
                <a:spcPct val="115000"/>
              </a:lnSpc>
              <a:buNone/>
            </a:pPr>
            <a:endParaRPr lang="en-US" sz="1150" dirty="0"/>
          </a:p>
          <a:p>
            <a:pPr indent="0" marL="0">
              <a:lnSpc>
                <a:spcPct val="115000"/>
              </a:lnSpc>
              <a:buNone/>
            </a:pPr>
            <a:r>
              <a:rPr lang="en-US" sz="1150" dirty="0">
                <a:solidFill>
                  <a:srgbClr val="23272E"/>
                </a:solidFill>
                <a:latin typeface="Calibri" pitchFamily="34" charset="0"/>
                <a:ea typeface="Calibri" pitchFamily="34" charset="-122"/>
                <a:cs typeface="Calibri" pitchFamily="34" charset="-120"/>
              </a:rPr>
              <a:t>Well under 1 % of a mid-range FPGA.</a:t>
            </a:r>
            <a:endParaRPr lang="en-US" sz="1150" dirty="0"/>
          </a:p>
        </p:txBody>
      </p:sp>
      <p:sp>
        <p:nvSpPr>
          <p:cNvPr id="7" name="Shape 5"/>
          <p:cNvSpPr/>
          <p:nvPr/>
        </p:nvSpPr>
        <p:spPr>
          <a:xfrm>
            <a:off x="4288536" y="1463040"/>
            <a:ext cx="3538728" cy="3840480"/>
          </a:xfrm>
          <a:prstGeom prst="roundRect">
            <a:avLst>
              <a:gd name="adj" fmla="val 1550"/>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8" name="Text 6"/>
          <p:cNvSpPr txBox="1"/>
          <p:nvPr/>
        </p:nvSpPr>
        <p:spPr>
          <a:xfrm>
            <a:off x="4544568" y="1664208"/>
            <a:ext cx="3017520" cy="320040"/>
          </a:xfrm>
          <a:prstGeom prst="rect">
            <a:avLst/>
          </a:prstGeom>
          <a:noFill/>
          <a:ln/>
        </p:spPr>
        <p:txBody>
          <a:bodyPr wrap="square" lIns="0" tIns="0" rIns="0" bIns="0" rtlCol="0" anchor="ctr"/>
          <a:lstStyle/>
          <a:p>
            <a:pPr indent="0" marL="0">
              <a:buNone/>
            </a:pPr>
            <a:r>
              <a:rPr lang="en-US" sz="1700" b="1" dirty="0">
                <a:solidFill>
                  <a:srgbClr val="E8552D"/>
                </a:solidFill>
                <a:latin typeface="Cambria" pitchFamily="34" charset="0"/>
                <a:ea typeface="Cambria" pitchFamily="34" charset="-122"/>
                <a:cs typeface="Cambria" pitchFamily="34" charset="-120"/>
              </a:rPr>
              <a:t>The expensive decision</a:t>
            </a:r>
            <a:endParaRPr lang="en-US" sz="1700" dirty="0"/>
          </a:p>
        </p:txBody>
      </p:sp>
      <p:sp>
        <p:nvSpPr>
          <p:cNvPr id="9" name="Text 7"/>
          <p:cNvSpPr txBox="1"/>
          <p:nvPr/>
        </p:nvSpPr>
        <p:spPr>
          <a:xfrm>
            <a:off x="4544568" y="2084832"/>
            <a:ext cx="3017520" cy="3017520"/>
          </a:xfrm>
          <a:prstGeom prst="rect">
            <a:avLst/>
          </a:prstGeom>
          <a:noFill/>
          <a:ln/>
        </p:spPr>
        <p:txBody>
          <a:bodyPr wrap="square" lIns="0" tIns="0" rIns="0" bIns="0" rtlCol="0" anchor="ctr"/>
          <a:lstStyle/>
          <a:p>
            <a:pPr indent="0" marL="0">
              <a:lnSpc>
                <a:spcPct val="115000"/>
              </a:lnSpc>
              <a:buNone/>
            </a:pPr>
            <a:r>
              <a:rPr lang="en-US" sz="1150" dirty="0">
                <a:solidFill>
                  <a:srgbClr val="23272E"/>
                </a:solidFill>
                <a:latin typeface="Calibri" pitchFamily="34" charset="0"/>
                <a:ea typeface="Calibri" pitchFamily="34" charset="-122"/>
                <a:cs typeface="Calibri" pitchFamily="34" charset="-120"/>
              </a:rPr>
              <a:t>Squaring v at full width to survive the cancellation turns one 32×32 multiply into a 64×64 — 4× the multiplier area.</a:t>
            </a:r>
            <a:endParaRPr lang="en-US" sz="1150" dirty="0"/>
          </a:p>
          <a:p>
            <a:pPr indent="0" marL="0">
              <a:lnSpc>
                <a:spcPct val="115000"/>
              </a:lnSpc>
              <a:buNone/>
            </a:pPr>
            <a:endParaRPr lang="en-US" sz="1150" dirty="0"/>
          </a:p>
          <a:p>
            <a:pPr indent="0" marL="0">
              <a:lnSpc>
                <a:spcPct val="115000"/>
              </a:lnSpc>
              <a:buNone/>
            </a:pPr>
            <a:r>
              <a:rPr lang="en-US" sz="1150" dirty="0">
                <a:solidFill>
                  <a:srgbClr val="23272E"/>
                </a:solidFill>
                <a:latin typeface="Calibri" pitchFamily="34" charset="0"/>
                <a:ea typeface="Calibri" pitchFamily="34" charset="-122"/>
                <a:cs typeface="Calibri" pitchFamily="34" charset="-120"/>
              </a:rPr>
              <a:t>Q2.30 ray directions would let it revert to 32×32 AND improve accuracy: the better numerical choice is also the cheaper one.</a:t>
            </a:r>
            <a:endParaRPr lang="en-US" sz="1150" dirty="0"/>
          </a:p>
        </p:txBody>
      </p:sp>
      <p:sp>
        <p:nvSpPr>
          <p:cNvPr id="10" name="Shape 8"/>
          <p:cNvSpPr/>
          <p:nvPr/>
        </p:nvSpPr>
        <p:spPr>
          <a:xfrm>
            <a:off x="7982712" y="1463040"/>
            <a:ext cx="3538728" cy="3840480"/>
          </a:xfrm>
          <a:prstGeom prst="roundRect">
            <a:avLst>
              <a:gd name="adj" fmla="val 1550"/>
            </a:avLst>
          </a:prstGeom>
          <a:solidFill>
            <a:srgbClr val="FFFFFF"/>
          </a:solidFill>
          <a:ln w="12700">
            <a:solidFill>
              <a:srgbClr val="E3E3DF"/>
            </a:solidFill>
            <a:prstDash val="solid"/>
          </a:ln>
          <a:effectLst>
            <a:outerShdw sx="100000" sy="100000" kx="0" ky="0" algn="bl" rotWithShape="0" blurRad="76200" dist="12700" dir="5400000">
              <a:srgbClr val="9A9A95">
                <a:alpha val="18000"/>
              </a:srgbClr>
            </a:outerShdw>
          </a:effectLst>
        </p:spPr>
      </p:sp>
      <p:sp>
        <p:nvSpPr>
          <p:cNvPr id="11" name="Text 9"/>
          <p:cNvSpPr txBox="1"/>
          <p:nvPr/>
        </p:nvSpPr>
        <p:spPr>
          <a:xfrm>
            <a:off x="8238744" y="1664208"/>
            <a:ext cx="3017520" cy="320040"/>
          </a:xfrm>
          <a:prstGeom prst="rect">
            <a:avLst/>
          </a:prstGeom>
          <a:noFill/>
          <a:ln/>
        </p:spPr>
        <p:txBody>
          <a:bodyPr wrap="square" lIns="0" tIns="0" rIns="0" bIns="0" rtlCol="0" anchor="ctr"/>
          <a:lstStyle/>
          <a:p>
            <a:pPr indent="0" marL="0">
              <a:buNone/>
            </a:pPr>
            <a:r>
              <a:rPr lang="en-US" sz="1700" b="1" dirty="0">
                <a:solidFill>
                  <a:srgbClr val="23272E"/>
                </a:solidFill>
                <a:latin typeface="Cambria" pitchFamily="34" charset="0"/>
                <a:ea typeface="Cambria" pitchFamily="34" charset="-122"/>
                <a:cs typeface="Cambria" pitchFamily="34" charset="-120"/>
              </a:rPr>
              <a:t>Power &amp; frequency</a:t>
            </a:r>
            <a:endParaRPr lang="en-US" sz="1700" dirty="0"/>
          </a:p>
        </p:txBody>
      </p:sp>
      <p:sp>
        <p:nvSpPr>
          <p:cNvPr id="12" name="Text 10"/>
          <p:cNvSpPr txBox="1"/>
          <p:nvPr/>
        </p:nvSpPr>
        <p:spPr>
          <a:xfrm>
            <a:off x="8238744" y="2084832"/>
            <a:ext cx="3017520" cy="3017520"/>
          </a:xfrm>
          <a:prstGeom prst="rect">
            <a:avLst/>
          </a:prstGeom>
          <a:noFill/>
          <a:ln/>
        </p:spPr>
        <p:txBody>
          <a:bodyPr wrap="square" lIns="0" tIns="0" rIns="0" bIns="0" rtlCol="0" anchor="ctr"/>
          <a:lstStyle/>
          <a:p>
            <a:pPr indent="0" marL="0">
              <a:lnSpc>
                <a:spcPct val="115000"/>
              </a:lnSpc>
              <a:buNone/>
            </a:pPr>
            <a:r>
              <a:rPr lang="en-US" sz="1150" dirty="0">
                <a:solidFill>
                  <a:srgbClr val="23272E"/>
                </a:solidFill>
                <a:latin typeface="Calibri" pitchFamily="34" charset="0"/>
                <a:ea typeface="Calibri" pitchFamily="34" charset="-122"/>
                <a:cs typeface="Calibri" pitchFamily="34" charset="-120"/>
              </a:rPr>
              <a:t>No caches, no branch predictor, no register file — the three biggest consumers in a general-purpose core. Every flip-flop toggles for the computation.</a:t>
            </a:r>
            <a:endParaRPr lang="en-US" sz="1150" dirty="0"/>
          </a:p>
          <a:p>
            <a:pPr indent="0" marL="0">
              <a:lnSpc>
                <a:spcPct val="115000"/>
              </a:lnSpc>
              <a:buNone/>
            </a:pPr>
            <a:endParaRPr lang="en-US" sz="1150" dirty="0"/>
          </a:p>
          <a:p>
            <a:pPr indent="0" marL="0">
              <a:lnSpc>
                <a:spcPct val="115000"/>
              </a:lnSpc>
              <a:buNone/>
            </a:pPr>
            <a:r>
              <a:rPr lang="en-US" sz="1150" dirty="0">
                <a:solidFill>
                  <a:srgbClr val="23272E"/>
                </a:solidFill>
                <a:latin typeface="Calibri" pitchFamily="34" charset="0"/>
                <a:ea typeface="Calibri" pitchFamily="34" charset="-122"/>
                <a:cs typeface="Calibri" pitchFamily="34" charset="-120"/>
              </a:rPr>
              <a:t>Throughput is 1/cycle regardless of depth, so frequency scales it linearly. Latency (30 cycles = 150 ns at 200 MHz) is hidden by the FIFO.</a:t>
            </a:r>
            <a:endParaRPr lang="en-US" sz="1150" dirty="0"/>
          </a:p>
        </p:txBody>
      </p:sp>
      <p:sp>
        <p:nvSpPr>
          <p:cNvPr id="13" name="Text 11"/>
          <p:cNvSpPr txBox="1"/>
          <p:nvPr/>
        </p:nvSpPr>
        <p:spPr>
          <a:xfrm>
            <a:off x="594360" y="5486400"/>
            <a:ext cx="10881360" cy="64008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Fixed vs floating point: FP32 would remove the range and cancellation concerns and match Python exactly — at the cost of a much larger multiplier, an FP adder with normalisation, and a far more complex square root. For a bounded scene, fixed point is the better engineering choice, and we quantified exactly what it costs.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D23"/>
        </a:solidFill>
      </p:bgPr>
    </p:bg>
    <p:spTree>
      <p:nvGrpSpPr>
        <p:cNvPr id="1" name=""/>
        <p:cNvGrpSpPr/>
        <p:nvPr/>
      </p:nvGrpSpPr>
      <p:grpSpPr>
        <a:xfrm>
          <a:off x="0" y="0"/>
          <a:ext cx="0" cy="0"/>
          <a:chOff x="0" y="0"/>
          <a:chExt cx="0" cy="0"/>
        </a:xfrm>
      </p:grpSpPr>
      <p:sp>
        <p:nvSpPr>
          <p:cNvPr id="2" name="Text 0"/>
          <p:cNvSpPr txBox="1"/>
          <p:nvPr/>
        </p:nvSpPr>
        <p:spPr>
          <a:xfrm>
            <a:off x="594360" y="731520"/>
            <a:ext cx="73152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take away</a:t>
            </a:r>
            <a:endParaRPr lang="en-US" sz="3200" dirty="0"/>
          </a:p>
        </p:txBody>
      </p:sp>
      <p:sp>
        <p:nvSpPr>
          <p:cNvPr id="3" name="Shape 1"/>
          <p:cNvSpPr/>
          <p:nvPr/>
        </p:nvSpPr>
        <p:spPr>
          <a:xfrm>
            <a:off x="594360" y="1527048"/>
            <a:ext cx="310896" cy="310896"/>
          </a:xfrm>
          <a:prstGeom prst="ellipse">
            <a:avLst/>
          </a:prstGeom>
          <a:solidFill>
            <a:srgbClr val="E8552D"/>
          </a:solidFill>
          <a:ln/>
        </p:spPr>
      </p:sp>
      <p:sp>
        <p:nvSpPr>
          <p:cNvPr id="4" name="Text 2"/>
          <p:cNvSpPr txBox="1"/>
          <p:nvPr/>
        </p:nvSpPr>
        <p:spPr>
          <a:xfrm>
            <a:off x="594360" y="1527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097280" y="1508760"/>
            <a:ext cx="1033272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Both benchmarks beat the requirement</a:t>
            </a:r>
            <a:endParaRPr lang="en-US" sz="1450" dirty="0"/>
          </a:p>
        </p:txBody>
      </p:sp>
      <p:sp>
        <p:nvSpPr>
          <p:cNvPr id="6" name="Text 4"/>
          <p:cNvSpPr txBox="1"/>
          <p:nvPr/>
        </p:nvSpPr>
        <p:spPr>
          <a:xfrm>
            <a:off x="1097280" y="1801368"/>
            <a:ext cx="10332720" cy="502920"/>
          </a:xfrm>
          <a:prstGeom prst="rect">
            <a:avLst/>
          </a:prstGeom>
          <a:noFill/>
          <a:ln/>
        </p:spPr>
        <p:txBody>
          <a:bodyPr wrap="square" lIns="0" tIns="0" rIns="0" bIns="0" rtlCol="0" anchor="ctr"/>
          <a:lstStyle/>
          <a:p>
            <a:pPr indent="0" marL="0">
              <a:buNone/>
            </a:pPr>
            <a:r>
              <a:rPr lang="en-US" sz="1250" dirty="0">
                <a:solidFill>
                  <a:srgbClr val="9AA0A6"/>
                </a:solidFill>
                <a:latin typeface="Calibri" pitchFamily="34" charset="0"/>
                <a:ea typeface="Calibri" pitchFamily="34" charset="-122"/>
                <a:cs typeface="Calibri" pitchFamily="34" charset="-120"/>
              </a:rPr>
              <a:t>2.98× and 1.44×, with byte-identical output verified before any number was recorded.</a:t>
            </a:r>
            <a:endParaRPr lang="en-US" sz="1250" dirty="0"/>
          </a:p>
        </p:txBody>
      </p:sp>
      <p:sp>
        <p:nvSpPr>
          <p:cNvPr id="7" name="Shape 5"/>
          <p:cNvSpPr/>
          <p:nvPr/>
        </p:nvSpPr>
        <p:spPr>
          <a:xfrm>
            <a:off x="594360" y="2441448"/>
            <a:ext cx="310896" cy="310896"/>
          </a:xfrm>
          <a:prstGeom prst="ellipse">
            <a:avLst/>
          </a:prstGeom>
          <a:solidFill>
            <a:srgbClr val="E8552D"/>
          </a:solidFill>
          <a:ln/>
        </p:spPr>
      </p:sp>
      <p:sp>
        <p:nvSpPr>
          <p:cNvPr id="8" name="Text 6"/>
          <p:cNvSpPr txBox="1"/>
          <p:nvPr/>
        </p:nvSpPr>
        <p:spPr>
          <a:xfrm>
            <a:off x="594360" y="24414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97280" y="2423160"/>
            <a:ext cx="1033272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speedups are removed work</a:t>
            </a:r>
            <a:endParaRPr lang="en-US" sz="1450" dirty="0"/>
          </a:p>
        </p:txBody>
      </p:sp>
      <p:sp>
        <p:nvSpPr>
          <p:cNvPr id="10" name="Text 8"/>
          <p:cNvSpPr txBox="1"/>
          <p:nvPr/>
        </p:nvSpPr>
        <p:spPr>
          <a:xfrm>
            <a:off x="1097280" y="2715768"/>
            <a:ext cx="10332720" cy="502920"/>
          </a:xfrm>
          <a:prstGeom prst="rect">
            <a:avLst/>
          </a:prstGeom>
          <a:noFill/>
          <a:ln/>
        </p:spPr>
        <p:txBody>
          <a:bodyPr wrap="square" lIns="0" tIns="0" rIns="0" bIns="0" rtlCol="0" anchor="ctr"/>
          <a:lstStyle/>
          <a:p>
            <a:pPr indent="0" marL="0">
              <a:buNone/>
            </a:pPr>
            <a:r>
              <a:rPr lang="en-US" sz="1250" dirty="0">
                <a:solidFill>
                  <a:srgbClr val="9AA0A6"/>
                </a:solidFill>
                <a:latin typeface="Calibri" pitchFamily="34" charset="0"/>
                <a:ea typeface="Calibri" pitchFamily="34" charset="-122"/>
                <a:cs typeface="Calibri" pitchFamily="34" charset="-120"/>
              </a:rPr>
              <a:t>Cycles and instructions fall by the same factor with IPC flat, and page faults are unchanged — so it is compute, not artefacts.</a:t>
            </a:r>
            <a:endParaRPr lang="en-US" sz="1250" dirty="0"/>
          </a:p>
        </p:txBody>
      </p:sp>
      <p:sp>
        <p:nvSpPr>
          <p:cNvPr id="11" name="Shape 9"/>
          <p:cNvSpPr/>
          <p:nvPr/>
        </p:nvSpPr>
        <p:spPr>
          <a:xfrm>
            <a:off x="594360" y="3355848"/>
            <a:ext cx="310896" cy="310896"/>
          </a:xfrm>
          <a:prstGeom prst="ellipse">
            <a:avLst/>
          </a:prstGeom>
          <a:solidFill>
            <a:srgbClr val="E8552D"/>
          </a:solidFill>
          <a:ln/>
        </p:spPr>
      </p:sp>
      <p:sp>
        <p:nvSpPr>
          <p:cNvPr id="12" name="Text 10"/>
          <p:cNvSpPr txBox="1"/>
          <p:nvPr/>
        </p:nvSpPr>
        <p:spPr>
          <a:xfrm>
            <a:off x="594360" y="33558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097280" y="3337560"/>
            <a:ext cx="1033272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Optimizing changes the shape of the problem</a:t>
            </a:r>
            <a:endParaRPr lang="en-US" sz="1450" dirty="0"/>
          </a:p>
        </p:txBody>
      </p:sp>
      <p:sp>
        <p:nvSpPr>
          <p:cNvPr id="14" name="Text 12"/>
          <p:cNvSpPr txBox="1"/>
          <p:nvPr/>
        </p:nvSpPr>
        <p:spPr>
          <a:xfrm>
            <a:off x="1097280" y="3630168"/>
            <a:ext cx="10332720" cy="502920"/>
          </a:xfrm>
          <a:prstGeom prst="rect">
            <a:avLst/>
          </a:prstGeom>
          <a:noFill/>
          <a:ln/>
        </p:spPr>
        <p:txBody>
          <a:bodyPr wrap="square" lIns="0" tIns="0" rIns="0" bIns="0" rtlCol="0" anchor="ctr"/>
          <a:lstStyle/>
          <a:p>
            <a:pPr indent="0" marL="0">
              <a:buNone/>
            </a:pPr>
            <a:r>
              <a:rPr lang="en-US" sz="1250" dirty="0">
                <a:solidFill>
                  <a:srgbClr val="9AA0A6"/>
                </a:solidFill>
                <a:latin typeface="Calibri" pitchFamily="34" charset="0"/>
                <a:ea typeface="Calibri" pitchFamily="34" charset="-122"/>
                <a:cs typeface="Calibri" pitchFamily="34" charset="-120"/>
              </a:rPr>
              <a:t>intersectionTime went 11.8 % → 28.1 % and interpreter dispatch 28 % → 34 %. What remains is the floor software cannot reach.</a:t>
            </a:r>
            <a:endParaRPr lang="en-US" sz="1250" dirty="0"/>
          </a:p>
        </p:txBody>
      </p:sp>
      <p:sp>
        <p:nvSpPr>
          <p:cNvPr id="15" name="Shape 13"/>
          <p:cNvSpPr/>
          <p:nvPr/>
        </p:nvSpPr>
        <p:spPr>
          <a:xfrm>
            <a:off x="594360" y="4270248"/>
            <a:ext cx="310896" cy="310896"/>
          </a:xfrm>
          <a:prstGeom prst="ellipse">
            <a:avLst/>
          </a:prstGeom>
          <a:solidFill>
            <a:srgbClr val="E8552D"/>
          </a:solidFill>
          <a:ln/>
        </p:spPr>
      </p:sp>
      <p:sp>
        <p:nvSpPr>
          <p:cNvPr id="16" name="Text 14"/>
          <p:cNvSpPr txBox="1"/>
          <p:nvPr/>
        </p:nvSpPr>
        <p:spPr>
          <a:xfrm>
            <a:off x="594360" y="42702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97280" y="4251960"/>
            <a:ext cx="1033272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accelerator's limit is Amdahl, not arithmetic</a:t>
            </a:r>
            <a:endParaRPr lang="en-US" sz="1450" dirty="0"/>
          </a:p>
        </p:txBody>
      </p:sp>
      <p:sp>
        <p:nvSpPr>
          <p:cNvPr id="18" name="Text 16"/>
          <p:cNvSpPr txBox="1"/>
          <p:nvPr/>
        </p:nvSpPr>
        <p:spPr>
          <a:xfrm>
            <a:off x="1097280" y="4544568"/>
            <a:ext cx="10332720" cy="502920"/>
          </a:xfrm>
          <a:prstGeom prst="rect">
            <a:avLst/>
          </a:prstGeom>
          <a:noFill/>
          <a:ln/>
        </p:spPr>
        <p:txBody>
          <a:bodyPr wrap="square" lIns="0" tIns="0" rIns="0" bIns="0" rtlCol="0" anchor="ctr"/>
          <a:lstStyle/>
          <a:p>
            <a:pPr indent="0" marL="0">
              <a:buNone/>
            </a:pPr>
            <a:r>
              <a:rPr lang="en-US" sz="1250" dirty="0">
                <a:solidFill>
                  <a:srgbClr val="9AA0A6"/>
                </a:solidFill>
                <a:latin typeface="Calibri" pitchFamily="34" charset="0"/>
                <a:ea typeface="Calibri" pitchFamily="34" charset="-122"/>
                <a:cs typeface="Calibri" pitchFamily="34" charset="-120"/>
              </a:rPr>
              <a:t>One pipeline makes the geometry free; the ceiling is still 1.39×, and a wider unit would change nothing.</a:t>
            </a:r>
            <a:endParaRPr lang="en-US" sz="1250" dirty="0"/>
          </a:p>
        </p:txBody>
      </p:sp>
      <p:sp>
        <p:nvSpPr>
          <p:cNvPr id="19" name="Shape 17"/>
          <p:cNvSpPr/>
          <p:nvPr/>
        </p:nvSpPr>
        <p:spPr>
          <a:xfrm>
            <a:off x="594360" y="5184648"/>
            <a:ext cx="310896" cy="310896"/>
          </a:xfrm>
          <a:prstGeom prst="ellipse">
            <a:avLst/>
          </a:prstGeom>
          <a:solidFill>
            <a:srgbClr val="2D9596"/>
          </a:solidFill>
          <a:ln/>
        </p:spPr>
      </p:sp>
      <p:sp>
        <p:nvSpPr>
          <p:cNvPr id="20" name="Text 18"/>
          <p:cNvSpPr txBox="1"/>
          <p:nvPr/>
        </p:nvSpPr>
        <p:spPr>
          <a:xfrm>
            <a:off x="594360" y="51846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txBox="1"/>
          <p:nvPr/>
        </p:nvSpPr>
        <p:spPr>
          <a:xfrm>
            <a:off x="1097280" y="5166360"/>
            <a:ext cx="1033272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Two workloads, two different hardware answers</a:t>
            </a:r>
            <a:endParaRPr lang="en-US" sz="1450" dirty="0"/>
          </a:p>
        </p:txBody>
      </p:sp>
      <p:sp>
        <p:nvSpPr>
          <p:cNvPr id="22" name="Text 20"/>
          <p:cNvSpPr txBox="1"/>
          <p:nvPr/>
        </p:nvSpPr>
        <p:spPr>
          <a:xfrm>
            <a:off x="1097280" y="5458968"/>
            <a:ext cx="10332720" cy="502920"/>
          </a:xfrm>
          <a:prstGeom prst="rect">
            <a:avLst/>
          </a:prstGeom>
          <a:noFill/>
          <a:ln/>
        </p:spPr>
        <p:txBody>
          <a:bodyPr wrap="square" lIns="0" tIns="0" rIns="0" bIns="0" rtlCol="0" anchor="ctr"/>
          <a:lstStyle/>
          <a:p>
            <a:pPr indent="0" marL="0">
              <a:buNone/>
            </a:pPr>
            <a:r>
              <a:rPr lang="en-US" sz="1250" dirty="0">
                <a:solidFill>
                  <a:srgbClr val="9AA0A6"/>
                </a:solidFill>
                <a:latin typeface="Calibri" pitchFamily="34" charset="0"/>
                <a:ea typeface="Calibri" pitchFamily="34" charset="-122"/>
                <a:cs typeface="Calibri" pitchFamily="34" charset="-120"/>
              </a:rPr>
              <a:t>raytrace is regular and suits a control-free systolic pipeline. pyflate's variable-length decode is serially dependent by construction — the same method, an entirely different conclusion.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D23"/>
        </a:solidFill>
      </p:bgPr>
    </p:bg>
    <p:spTree>
      <p:nvGrpSpPr>
        <p:cNvPr id="1" name=""/>
        <p:cNvGrpSpPr/>
        <p:nvPr/>
      </p:nvGrpSpPr>
      <p:grpSpPr>
        <a:xfrm>
          <a:off x="0" y="0"/>
          <a:ext cx="0" cy="0"/>
          <a:chOff x="0" y="0"/>
          <a:chExt cx="0" cy="0"/>
        </a:xfrm>
      </p:grpSpPr>
      <p:sp>
        <p:nvSpPr>
          <p:cNvPr id="2" name="Text 0"/>
          <p:cNvSpPr txBox="1"/>
          <p:nvPr/>
        </p:nvSpPr>
        <p:spPr>
          <a:xfrm>
            <a:off x="594360" y="2286000"/>
            <a:ext cx="7315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3" name="Text 1"/>
          <p:cNvSpPr txBox="1"/>
          <p:nvPr/>
        </p:nvSpPr>
        <p:spPr>
          <a:xfrm>
            <a:off x="594360" y="3291840"/>
            <a:ext cx="8229600" cy="365760"/>
          </a:xfrm>
          <a:prstGeom prst="rect">
            <a:avLst/>
          </a:prstGeom>
          <a:noFill/>
          <a:ln/>
        </p:spPr>
        <p:txBody>
          <a:bodyPr wrap="square" lIns="0" tIns="0" rIns="0" bIns="0" rtlCol="0" anchor="ctr"/>
          <a:lstStyle/>
          <a:p>
            <a:pPr indent="0" marL="0">
              <a:buNone/>
            </a:pPr>
            <a:r>
              <a:rPr lang="en-US" sz="1500" dirty="0">
                <a:solidFill>
                  <a:srgbClr val="E8552D"/>
                </a:solidFill>
                <a:latin typeface="Calibri" pitchFamily="34" charset="0"/>
                <a:ea typeface="Calibri" pitchFamily="34" charset="-122"/>
                <a:cs typeface="Calibri" pitchFamily="34" charset="-120"/>
              </a:rPr>
              <a:t>Code, reports, RTL and every measurement artefact are in the repository.</a:t>
            </a:r>
            <a:endParaRPr lang="en-US" sz="1500" dirty="0"/>
          </a:p>
        </p:txBody>
      </p:sp>
      <p:sp>
        <p:nvSpPr>
          <p:cNvPr id="4" name="Text 2"/>
          <p:cNvSpPr txBox="1"/>
          <p:nvPr/>
        </p:nvSpPr>
        <p:spPr>
          <a:xfrm>
            <a:off x="594360" y="3931920"/>
            <a:ext cx="10058400" cy="365760"/>
          </a:xfrm>
          <a:prstGeom prst="rect">
            <a:avLst/>
          </a:prstGeom>
          <a:noFill/>
          <a:ln/>
        </p:spPr>
        <p:txBody>
          <a:bodyPr wrap="square" lIns="0" tIns="0" rIns="0" bIns="0" rtlCol="0" anchor="ctr"/>
          <a:lstStyle/>
          <a:p>
            <a:pPr indent="0" marL="0">
              <a:buNone/>
            </a:pPr>
            <a:r>
              <a:rPr lang="en-US" sz="1300" dirty="0">
                <a:solidFill>
                  <a:srgbClr val="9AA0A6"/>
                </a:solidFill>
                <a:latin typeface="Courier New" pitchFamily="34" charset="0"/>
                <a:ea typeface="Courier New" pitchFamily="34" charset="-122"/>
                <a:cs typeface="Courier New" pitchFamily="34" charset="-120"/>
              </a:rPr>
              <a:t>bash script_raytrace.sh   ·   bash script_pyflate.sh   ·   bash scripts/run_hw_sim.sh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Benchmark Optimization and Hardware Acceleration</dc:title>
  <dc:subject>PptxGenJS Presentation</dc:subject>
  <dc:creator>Ahmad Abd Alhaleem, Osama Abd Alhaleem</dc:creator>
  <cp:lastModifiedBy>Ahmad Abd Alhaleem, Osama Abd Alhaleem</cp:lastModifiedBy>
  <cp:revision>1</cp:revision>
  <dcterms:created xsi:type="dcterms:W3CDTF">2026-09-04T19:28:03Z</dcterms:created>
  <dcterms:modified xsi:type="dcterms:W3CDTF">2026-09-04T19:28:03Z</dcterms:modified>
</cp:coreProperties>
</file>